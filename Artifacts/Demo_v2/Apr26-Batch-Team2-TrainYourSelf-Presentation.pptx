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1097280"/>
          </a:xfrm>
          <a:prstGeom prst="rect">
            <a:avLst/>
          </a:prstGeom>
          <a:noFill/>
        </p:spPr>
        <p:txBody>
          <a:bodyPr wrap="square">
            <a:spAutoFit/>
          </a:bodyPr>
          <a:lstStyle/>
          <a:p>
            <a:pPr algn="ctr">
              <a:defRPr sz="4800" b="1">
                <a:solidFill>
                  <a:srgbClr val="FFFFFF"/>
                </a:solidFill>
              </a:defRPr>
            </a:pPr>
            <a:r>
              <a:t>T2-TrainYourSelf</a:t>
            </a:r>
          </a:p>
        </p:txBody>
      </p:sp>
      <p:sp>
        <p:nvSpPr>
          <p:cNvPr id="4" name="TextBox 3"/>
          <p:cNvSpPr txBox="1"/>
          <p:nvPr/>
        </p:nvSpPr>
        <p:spPr>
          <a:xfrm>
            <a:off x="914400" y="2103120"/>
            <a:ext cx="10332720" cy="731520"/>
          </a:xfrm>
          <a:prstGeom prst="rect">
            <a:avLst/>
          </a:prstGeom>
          <a:noFill/>
        </p:spPr>
        <p:txBody>
          <a:bodyPr wrap="square">
            <a:spAutoFit/>
          </a:bodyPr>
          <a:lstStyle/>
          <a:p>
            <a:pPr algn="ctr">
              <a:defRPr sz="2400" b="0">
                <a:solidFill>
                  <a:srgbClr val="BFDBFE"/>
                </a:solidFill>
              </a:defRPr>
            </a:pPr>
            <a:r>
              <a:t>Corporate Learning Progress Tracking with AI Risk Engine</a:t>
            </a:r>
          </a:p>
        </p:txBody>
      </p:sp>
      <p:sp>
        <p:nvSpPr>
          <p:cNvPr id="5" name="TextBox 4"/>
          <p:cNvSpPr txBox="1"/>
          <p:nvPr/>
        </p:nvSpPr>
        <p:spPr>
          <a:xfrm>
            <a:off x="914400" y="3108960"/>
            <a:ext cx="10332720" cy="457200"/>
          </a:xfrm>
          <a:prstGeom prst="rect">
            <a:avLst/>
          </a:prstGeom>
          <a:noFill/>
        </p:spPr>
        <p:txBody>
          <a:bodyPr wrap="square">
            <a:spAutoFit/>
          </a:bodyPr>
          <a:lstStyle/>
          <a:p>
            <a:pPr algn="ctr">
              <a:defRPr sz="1600" b="0">
                <a:solidFill>
                  <a:srgbClr val="93C5FD"/>
                </a:solidFill>
              </a:defRPr>
            </a:pPr>
            <a:r>
              <a:t>Propeller Foundation – Team 2</a:t>
            </a:r>
          </a:p>
        </p:txBody>
      </p:sp>
      <p:sp>
        <p:nvSpPr>
          <p:cNvPr id="6" name="TextBox 5"/>
          <p:cNvSpPr txBox="1"/>
          <p:nvPr/>
        </p:nvSpPr>
        <p:spPr>
          <a:xfrm>
            <a:off x="1371600" y="4572000"/>
            <a:ext cx="9418320" cy="457200"/>
          </a:xfrm>
          <a:prstGeom prst="rect">
            <a:avLst/>
          </a:prstGeom>
          <a:noFill/>
        </p:spPr>
        <p:txBody>
          <a:bodyPr wrap="square">
            <a:spAutoFit/>
          </a:bodyPr>
          <a:lstStyle/>
          <a:p>
            <a:pPr algn="ctr">
              <a:defRPr sz="1400" b="0">
                <a:solidFill>
                  <a:srgbClr val="BFDBFE"/>
                </a:solidFill>
              </a:defRPr>
            </a:pPr>
            <a:r>
              <a:t>Python + FastAPI    |    React + TypeScript    |    scikit-learn AI    |    JWT + RBAC    |    Docker + CI/CD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Problem Statement &amp; Scope</a:t>
            </a:r>
          </a:p>
        </p:txBody>
      </p:sp>
      <p:sp>
        <p:nvSpPr>
          <p:cNvPr id="3" name="Rounded Rectangle 2"/>
          <p:cNvSpPr/>
          <p:nvPr/>
        </p:nvSpPr>
        <p:spPr>
          <a:xfrm>
            <a:off x="365760" y="1097280"/>
            <a:ext cx="11430000" cy="1463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1280160"/>
          </a:xfrm>
          <a:prstGeom prst="rect">
            <a:avLst/>
          </a:prstGeom>
          <a:noFill/>
        </p:spPr>
        <p:txBody>
          <a:bodyPr wrap="square">
            <a:spAutoFit/>
          </a:bodyPr>
          <a:lstStyle/>
          <a:p>
            <a:pPr algn="l">
              <a:defRPr sz="1300" b="0">
                <a:solidFill>
                  <a:srgbClr val="1E293B"/>
                </a:solidFill>
              </a:defRPr>
            </a:pPr>
            <a:r>
              <a:t>Organizations are accountable for employee learning outcomes, training attendance, and compliance. Yet learning data is fragmented across LMS platforms, assessment systems, and trainer notes. Employees who fall behind on required competencies are detected too late, and interventions are reactive.</a:t>
            </a:r>
            <a:br/>
            <a:br/>
            <a:r>
              <a:t>Build a digital learning progress and early-intervention tracking system that consolidates training attendance, assessment results, and competency milestones to identify at-risk learners and track intervention effectiveness.</a:t>
            </a:r>
          </a:p>
        </p:txBody>
      </p:sp>
      <p:sp>
        <p:nvSpPr>
          <p:cNvPr id="5" name="Rounded Rectangle 4"/>
          <p:cNvSpPr/>
          <p:nvPr/>
        </p:nvSpPr>
        <p:spPr>
          <a:xfrm>
            <a:off x="365760" y="2926080"/>
            <a:ext cx="5486400" cy="3383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926080"/>
            <a:ext cx="73152"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999232"/>
            <a:ext cx="5212080" cy="320040"/>
          </a:xfrm>
          <a:prstGeom prst="rect">
            <a:avLst/>
          </a:prstGeom>
          <a:noFill/>
        </p:spPr>
        <p:txBody>
          <a:bodyPr wrap="square">
            <a:spAutoFit/>
          </a:bodyPr>
          <a:lstStyle/>
          <a:p>
            <a:pPr algn="l">
              <a:defRPr sz="1300" b="1">
                <a:solidFill>
                  <a:srgbClr val="2563EB"/>
                </a:solidFill>
              </a:defRPr>
            </a:pPr>
            <a:r>
              <a:t>Scope (Not a full LMS)</a:t>
            </a:r>
          </a:p>
        </p:txBody>
      </p:sp>
      <p:sp>
        <p:nvSpPr>
          <p:cNvPr id="8" name="TextBox 7"/>
          <p:cNvSpPr txBox="1"/>
          <p:nvPr/>
        </p:nvSpPr>
        <p:spPr>
          <a:xfrm>
            <a:off x="548640" y="3291840"/>
            <a:ext cx="5212080" cy="2926080"/>
          </a:xfrm>
          <a:prstGeom prst="rect">
            <a:avLst/>
          </a:prstGeom>
          <a:noFill/>
        </p:spPr>
        <p:txBody>
          <a:bodyPr wrap="square">
            <a:spAutoFit/>
          </a:bodyPr>
          <a:lstStyle/>
          <a:p>
            <a:pPr algn="l">
              <a:defRPr sz="1200" b="0">
                <a:solidFill>
                  <a:srgbClr val="1E293B"/>
                </a:solidFill>
              </a:defRPr>
            </a:pPr>
            <a:r>
              <a:t>• Ingestion (API): attendance, assessments, milestones</a:t>
            </a:r>
            <a:br/>
            <a:r>
              <a:t>• Rule-based risk identification (configurable rules)</a:t>
            </a:r>
            <a:br/>
            <a:r>
              <a:t>• Intervention tracking: remedial, coaching, mentoring</a:t>
            </a:r>
            <a:br/>
            <a:r>
              <a:t>• Compliance-ready reporting</a:t>
            </a:r>
          </a:p>
        </p:txBody>
      </p:sp>
      <p:sp>
        <p:nvSpPr>
          <p:cNvPr id="9" name="Rounded Rectangle 8"/>
          <p:cNvSpPr/>
          <p:nvPr/>
        </p:nvSpPr>
        <p:spPr>
          <a:xfrm>
            <a:off x="6217920" y="2926080"/>
            <a:ext cx="5577840" cy="3383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926080"/>
            <a:ext cx="73152" cy="3383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999232"/>
            <a:ext cx="5303520" cy="320040"/>
          </a:xfrm>
          <a:prstGeom prst="rect">
            <a:avLst/>
          </a:prstGeom>
          <a:noFill/>
        </p:spPr>
        <p:txBody>
          <a:bodyPr wrap="square">
            <a:spAutoFit/>
          </a:bodyPr>
          <a:lstStyle/>
          <a:p>
            <a:pPr algn="l">
              <a:defRPr sz="1300" b="1">
                <a:solidFill>
                  <a:srgbClr val="16A34A"/>
                </a:solidFill>
              </a:defRPr>
            </a:pPr>
            <a:r>
              <a:t>Must-Have Features &amp; Evaluation Criteria</a:t>
            </a:r>
          </a:p>
        </p:txBody>
      </p:sp>
      <p:sp>
        <p:nvSpPr>
          <p:cNvPr id="12" name="TextBox 11"/>
          <p:cNvSpPr txBox="1"/>
          <p:nvPr/>
        </p:nvSpPr>
        <p:spPr>
          <a:xfrm>
            <a:off x="6400800" y="3291840"/>
            <a:ext cx="5303520" cy="2926080"/>
          </a:xfrm>
          <a:prstGeom prst="rect">
            <a:avLst/>
          </a:prstGeom>
          <a:noFill/>
        </p:spPr>
        <p:txBody>
          <a:bodyPr wrap="square">
            <a:spAutoFit/>
          </a:bodyPr>
          <a:lstStyle/>
          <a:p>
            <a:pPr algn="l">
              <a:defRPr sz="1200" b="0">
                <a:solidFill>
                  <a:srgbClr val="1E293B"/>
                </a:solidFill>
              </a:defRPr>
            </a:pPr>
            <a:r>
              <a:t>• Employee learning profile aggregation</a:t>
            </a:r>
            <a:br/>
            <a:r>
              <a:t>• Configurable risk rules (attendance %, scores)</a:t>
            </a:r>
            <a:br/>
            <a:r>
              <a:t>• At-risk learner classification</a:t>
            </a:r>
            <a:br/>
            <a:r>
              <a:t>• Intervention history and outcome tracking</a:t>
            </a:r>
            <a:br/>
            <a:r>
              <a:t>• Simple dashboards or reports</a:t>
            </a:r>
            <a:br/>
            <a:r>
              <a:t>• — Evaluation: Realism of rules, competency progression,</a:t>
            </a:r>
            <a:br/>
            <a:r>
              <a:t>•   practical usefulness, clean separation of data/rules/reports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Architecture Overview</a:t>
            </a:r>
          </a:p>
        </p:txBody>
      </p:sp>
      <p:sp>
        <p:nvSpPr>
          <p:cNvPr id="3" name="Rounded Rectangle 2"/>
          <p:cNvSpPr/>
          <p:nvPr/>
        </p:nvSpPr>
        <p:spPr>
          <a:xfrm>
            <a:off x="457200" y="1280160"/>
            <a:ext cx="3200400" cy="914400"/>
          </a:xfrm>
          <a:prstGeom prst="round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3200400" cy="365760"/>
          </a:xfrm>
          <a:prstGeom prst="rect">
            <a:avLst/>
          </a:prstGeom>
          <a:noFill/>
        </p:spPr>
        <p:txBody>
          <a:bodyPr wrap="square">
            <a:spAutoFit/>
          </a:bodyPr>
          <a:lstStyle/>
          <a:p>
            <a:pPr algn="ctr">
              <a:defRPr sz="1400" b="1">
                <a:solidFill>
                  <a:srgbClr val="1E293B"/>
                </a:solidFill>
              </a:defRPr>
            </a:pPr>
            <a:r>
              <a:t>React + Tailwind</a:t>
            </a:r>
          </a:p>
        </p:txBody>
      </p:sp>
      <p:sp>
        <p:nvSpPr>
          <p:cNvPr id="5" name="TextBox 4"/>
          <p:cNvSpPr txBox="1"/>
          <p:nvPr/>
        </p:nvSpPr>
        <p:spPr>
          <a:xfrm>
            <a:off x="457200" y="1737360"/>
            <a:ext cx="3200400" cy="320040"/>
          </a:xfrm>
          <a:prstGeom prst="rect">
            <a:avLst/>
          </a:prstGeom>
          <a:noFill/>
        </p:spPr>
        <p:txBody>
          <a:bodyPr wrap="square">
            <a:spAutoFit/>
          </a:bodyPr>
          <a:lstStyle/>
          <a:p>
            <a:pPr algn="ctr">
              <a:defRPr sz="1100" b="0">
                <a:solidFill>
                  <a:srgbClr val="64748B"/>
                </a:solidFill>
              </a:defRPr>
            </a:pPr>
            <a:r>
              <a:t>Role-aware SPA  •  Port 3000</a:t>
            </a:r>
          </a:p>
        </p:txBody>
      </p:sp>
      <p:sp>
        <p:nvSpPr>
          <p:cNvPr id="6" name="TextBox 5"/>
          <p:cNvSpPr txBox="1"/>
          <p:nvPr/>
        </p:nvSpPr>
        <p:spPr>
          <a:xfrm>
            <a:off x="3840480" y="1417320"/>
            <a:ext cx="1371600" cy="457200"/>
          </a:xfrm>
          <a:prstGeom prst="rect">
            <a:avLst/>
          </a:prstGeom>
          <a:noFill/>
        </p:spPr>
        <p:txBody>
          <a:bodyPr wrap="square">
            <a:spAutoFit/>
          </a:bodyPr>
          <a:lstStyle/>
          <a:p>
            <a:pPr algn="ctr">
              <a:defRPr sz="1600" b="1">
                <a:solidFill>
                  <a:srgbClr val="2563EB"/>
                </a:solidFill>
              </a:defRPr>
            </a:pPr>
            <a:r>
              <a:t>⟵ REST/JSON ⟶</a:t>
            </a:r>
          </a:p>
        </p:txBody>
      </p:sp>
      <p:sp>
        <p:nvSpPr>
          <p:cNvPr id="7" name="Rounded Rectangle 6"/>
          <p:cNvSpPr/>
          <p:nvPr/>
        </p:nvSpPr>
        <p:spPr>
          <a:xfrm>
            <a:off x="5303520" y="1280160"/>
            <a:ext cx="3200400" cy="914400"/>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1417320"/>
            <a:ext cx="3200400" cy="365760"/>
          </a:xfrm>
          <a:prstGeom prst="rect">
            <a:avLst/>
          </a:prstGeom>
          <a:noFill/>
        </p:spPr>
        <p:txBody>
          <a:bodyPr wrap="square">
            <a:spAutoFit/>
          </a:bodyPr>
          <a:lstStyle/>
          <a:p>
            <a:pPr algn="ctr">
              <a:defRPr sz="1400" b="1">
                <a:solidFill>
                  <a:srgbClr val="1E293B"/>
                </a:solidFill>
              </a:defRPr>
            </a:pPr>
            <a:r>
              <a:t>FastAPI Backend</a:t>
            </a:r>
          </a:p>
        </p:txBody>
      </p:sp>
      <p:sp>
        <p:nvSpPr>
          <p:cNvPr id="9" name="TextBox 8"/>
          <p:cNvSpPr txBox="1"/>
          <p:nvPr/>
        </p:nvSpPr>
        <p:spPr>
          <a:xfrm>
            <a:off x="5303520" y="1737360"/>
            <a:ext cx="3200400" cy="320040"/>
          </a:xfrm>
          <a:prstGeom prst="rect">
            <a:avLst/>
          </a:prstGeom>
          <a:noFill/>
        </p:spPr>
        <p:txBody>
          <a:bodyPr wrap="square">
            <a:spAutoFit/>
          </a:bodyPr>
          <a:lstStyle/>
          <a:p>
            <a:pPr algn="ctr">
              <a:defRPr sz="1100" b="0">
                <a:solidFill>
                  <a:srgbClr val="64748B"/>
                </a:solidFill>
              </a:defRPr>
            </a:pPr>
            <a:r>
              <a:t>Auth + RBAC + AI  •  Port 8000</a:t>
            </a:r>
          </a:p>
        </p:txBody>
      </p:sp>
      <p:sp>
        <p:nvSpPr>
          <p:cNvPr id="10" name="TextBox 9"/>
          <p:cNvSpPr txBox="1"/>
          <p:nvPr/>
        </p:nvSpPr>
        <p:spPr>
          <a:xfrm>
            <a:off x="8686800" y="1417320"/>
            <a:ext cx="548640" cy="457200"/>
          </a:xfrm>
          <a:prstGeom prst="rect">
            <a:avLst/>
          </a:prstGeom>
          <a:noFill/>
        </p:spPr>
        <p:txBody>
          <a:bodyPr wrap="square">
            <a:spAutoFit/>
          </a:bodyPr>
          <a:lstStyle/>
          <a:p>
            <a:pPr algn="ctr">
              <a:defRPr sz="1600" b="1">
                <a:solidFill>
                  <a:srgbClr val="16A34A"/>
                </a:solidFill>
              </a:defRPr>
            </a:pPr>
            <a:r>
              <a:t>⟶</a:t>
            </a:r>
          </a:p>
        </p:txBody>
      </p:sp>
      <p:sp>
        <p:nvSpPr>
          <p:cNvPr id="11" name="Rounded Rectangle 10"/>
          <p:cNvSpPr/>
          <p:nvPr/>
        </p:nvSpPr>
        <p:spPr>
          <a:xfrm>
            <a:off x="9326880" y="1280160"/>
            <a:ext cx="2560320" cy="914400"/>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0" y="1417320"/>
            <a:ext cx="2560320" cy="365760"/>
          </a:xfrm>
          <a:prstGeom prst="rect">
            <a:avLst/>
          </a:prstGeom>
          <a:noFill/>
        </p:spPr>
        <p:txBody>
          <a:bodyPr wrap="square">
            <a:spAutoFit/>
          </a:bodyPr>
          <a:lstStyle/>
          <a:p>
            <a:pPr algn="ctr">
              <a:defRPr sz="1400" b="1">
                <a:solidFill>
                  <a:srgbClr val="1E293B"/>
                </a:solidFill>
              </a:defRPr>
            </a:pPr>
            <a:r>
              <a:t>SQLite → PostgreSQL</a:t>
            </a:r>
          </a:p>
        </p:txBody>
      </p:sp>
      <p:sp>
        <p:nvSpPr>
          <p:cNvPr id="13" name="TextBox 12"/>
          <p:cNvSpPr txBox="1"/>
          <p:nvPr/>
        </p:nvSpPr>
        <p:spPr>
          <a:xfrm>
            <a:off x="9326880" y="1737360"/>
            <a:ext cx="2560320" cy="320040"/>
          </a:xfrm>
          <a:prstGeom prst="rect">
            <a:avLst/>
          </a:prstGeom>
          <a:noFill/>
        </p:spPr>
        <p:txBody>
          <a:bodyPr wrap="square">
            <a:spAutoFit/>
          </a:bodyPr>
          <a:lstStyle/>
          <a:p>
            <a:pPr algn="ctr">
              <a:defRPr sz="1100" b="0">
                <a:solidFill>
                  <a:srgbClr val="64748B"/>
                </a:solidFill>
              </a:defRPr>
            </a:pPr>
            <a:r>
              <a:t>Zero-dependency  •  Prod-ready</a:t>
            </a:r>
          </a:p>
        </p:txBody>
      </p:sp>
      <p:sp>
        <p:nvSpPr>
          <p:cNvPr id="14" name="TextBox 13"/>
          <p:cNvSpPr txBox="1"/>
          <p:nvPr/>
        </p:nvSpPr>
        <p:spPr>
          <a:xfrm>
            <a:off x="457200" y="2560320"/>
            <a:ext cx="4572000" cy="365760"/>
          </a:xfrm>
          <a:prstGeom prst="rect">
            <a:avLst/>
          </a:prstGeom>
          <a:noFill/>
        </p:spPr>
        <p:txBody>
          <a:bodyPr wrap="square">
            <a:spAutoFit/>
          </a:bodyPr>
          <a:lstStyle/>
          <a:p>
            <a:pPr algn="l">
              <a:defRPr sz="1800" b="1">
                <a:solidFill>
                  <a:srgbClr val="2563EB"/>
                </a:solidFill>
              </a:defRPr>
            </a:pPr>
            <a:r>
              <a:t>Backend Modules</a:t>
            </a:r>
          </a:p>
        </p:txBody>
      </p:sp>
      <p:sp>
        <p:nvSpPr>
          <p:cNvPr id="15" name="Rounded Rectangle 14"/>
          <p:cNvSpPr/>
          <p:nvPr/>
        </p:nvSpPr>
        <p:spPr>
          <a:xfrm>
            <a:off x="457200" y="3017520"/>
            <a:ext cx="27432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017520"/>
            <a:ext cx="73152" cy="1097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90672"/>
            <a:ext cx="2468880" cy="320040"/>
          </a:xfrm>
          <a:prstGeom prst="rect">
            <a:avLst/>
          </a:prstGeom>
          <a:noFill/>
        </p:spPr>
        <p:txBody>
          <a:bodyPr wrap="square">
            <a:spAutoFit/>
          </a:bodyPr>
          <a:lstStyle/>
          <a:p>
            <a:pPr algn="l">
              <a:defRPr sz="1200" b="1">
                <a:solidFill>
                  <a:srgbClr val="2563EB"/>
                </a:solidFill>
              </a:defRPr>
            </a:pPr>
            <a:r>
              <a:t>Auth / JWT</a:t>
            </a:r>
          </a:p>
        </p:txBody>
      </p:sp>
      <p:sp>
        <p:nvSpPr>
          <p:cNvPr id="18" name="TextBox 17"/>
          <p:cNvSpPr txBox="1"/>
          <p:nvPr/>
        </p:nvSpPr>
        <p:spPr>
          <a:xfrm>
            <a:off x="640080" y="3383280"/>
            <a:ext cx="2468880" cy="640080"/>
          </a:xfrm>
          <a:prstGeom prst="rect">
            <a:avLst/>
          </a:prstGeom>
          <a:noFill/>
        </p:spPr>
        <p:txBody>
          <a:bodyPr wrap="square">
            <a:spAutoFit/>
          </a:bodyPr>
          <a:lstStyle/>
          <a:p>
            <a:pPr algn="l">
              <a:defRPr sz="1100" b="0">
                <a:solidFill>
                  <a:srgbClr val="1E293B"/>
                </a:solidFill>
              </a:defRPr>
            </a:pPr>
            <a:r>
              <a:t>• OAuth2 token flow, bcrypt passwords</a:t>
            </a:r>
          </a:p>
        </p:txBody>
      </p:sp>
      <p:sp>
        <p:nvSpPr>
          <p:cNvPr id="19" name="Rounded Rectangle 18"/>
          <p:cNvSpPr/>
          <p:nvPr/>
        </p:nvSpPr>
        <p:spPr>
          <a:xfrm>
            <a:off x="3337560" y="3017520"/>
            <a:ext cx="27432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37560" y="3017520"/>
            <a:ext cx="73152" cy="10972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3090672"/>
            <a:ext cx="2468880" cy="320040"/>
          </a:xfrm>
          <a:prstGeom prst="rect">
            <a:avLst/>
          </a:prstGeom>
          <a:noFill/>
        </p:spPr>
        <p:txBody>
          <a:bodyPr wrap="square">
            <a:spAutoFit/>
          </a:bodyPr>
          <a:lstStyle/>
          <a:p>
            <a:pPr algn="l">
              <a:defRPr sz="1200" b="1">
                <a:solidFill>
                  <a:srgbClr val="7C3AED"/>
                </a:solidFill>
              </a:defRPr>
            </a:pPr>
            <a:r>
              <a:t>RBAC</a:t>
            </a:r>
          </a:p>
        </p:txBody>
      </p:sp>
      <p:sp>
        <p:nvSpPr>
          <p:cNvPr id="22" name="TextBox 21"/>
          <p:cNvSpPr txBox="1"/>
          <p:nvPr/>
        </p:nvSpPr>
        <p:spPr>
          <a:xfrm>
            <a:off x="3520440" y="3383280"/>
            <a:ext cx="2468880" cy="640080"/>
          </a:xfrm>
          <a:prstGeom prst="rect">
            <a:avLst/>
          </a:prstGeom>
          <a:noFill/>
        </p:spPr>
        <p:txBody>
          <a:bodyPr wrap="square">
            <a:spAutoFit/>
          </a:bodyPr>
          <a:lstStyle/>
          <a:p>
            <a:pPr algn="l">
              <a:defRPr sz="1100" b="0">
                <a:solidFill>
                  <a:srgbClr val="1E293B"/>
                </a:solidFill>
              </a:defRPr>
            </a:pPr>
            <a:r>
              <a:t>• 5 roles, 12 permissions, API enforcement</a:t>
            </a:r>
          </a:p>
        </p:txBody>
      </p:sp>
      <p:sp>
        <p:nvSpPr>
          <p:cNvPr id="23" name="Rounded Rectangle 22"/>
          <p:cNvSpPr/>
          <p:nvPr/>
        </p:nvSpPr>
        <p:spPr>
          <a:xfrm>
            <a:off x="6217920" y="3017520"/>
            <a:ext cx="27432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017520"/>
            <a:ext cx="73152"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090672"/>
            <a:ext cx="2468880" cy="320040"/>
          </a:xfrm>
          <a:prstGeom prst="rect">
            <a:avLst/>
          </a:prstGeom>
          <a:noFill/>
        </p:spPr>
        <p:txBody>
          <a:bodyPr wrap="square">
            <a:spAutoFit/>
          </a:bodyPr>
          <a:lstStyle/>
          <a:p>
            <a:pPr algn="l">
              <a:defRPr sz="1200" b="1">
                <a:solidFill>
                  <a:srgbClr val="DC2626"/>
                </a:solidFill>
              </a:defRPr>
            </a:pPr>
            <a:r>
              <a:t>AI Engine</a:t>
            </a:r>
          </a:p>
        </p:txBody>
      </p:sp>
      <p:sp>
        <p:nvSpPr>
          <p:cNvPr id="26" name="TextBox 25"/>
          <p:cNvSpPr txBox="1"/>
          <p:nvPr/>
        </p:nvSpPr>
        <p:spPr>
          <a:xfrm>
            <a:off x="6400800" y="3383280"/>
            <a:ext cx="2468880" cy="640080"/>
          </a:xfrm>
          <a:prstGeom prst="rect">
            <a:avLst/>
          </a:prstGeom>
          <a:noFill/>
        </p:spPr>
        <p:txBody>
          <a:bodyPr wrap="square">
            <a:spAutoFit/>
          </a:bodyPr>
          <a:lstStyle/>
          <a:p>
            <a:pPr algn="l">
              <a:defRPr sz="1100" b="0">
                <a:solidFill>
                  <a:srgbClr val="1E293B"/>
                </a:solidFill>
              </a:defRPr>
            </a:pPr>
            <a:r>
              <a:t>• Decision Tree + rule engine, real-time</a:t>
            </a:r>
          </a:p>
        </p:txBody>
      </p:sp>
      <p:sp>
        <p:nvSpPr>
          <p:cNvPr id="27" name="Rounded Rectangle 26"/>
          <p:cNvSpPr/>
          <p:nvPr/>
        </p:nvSpPr>
        <p:spPr>
          <a:xfrm>
            <a:off x="9098280" y="3017520"/>
            <a:ext cx="2743200" cy="10972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98280" y="3017520"/>
            <a:ext cx="73152"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3090672"/>
            <a:ext cx="2468880" cy="320040"/>
          </a:xfrm>
          <a:prstGeom prst="rect">
            <a:avLst/>
          </a:prstGeom>
          <a:noFill/>
        </p:spPr>
        <p:txBody>
          <a:bodyPr wrap="square">
            <a:spAutoFit/>
          </a:bodyPr>
          <a:lstStyle/>
          <a:p>
            <a:pPr algn="l">
              <a:defRPr sz="1200" b="1">
                <a:solidFill>
                  <a:srgbClr val="16A34A"/>
                </a:solidFill>
              </a:defRPr>
            </a:pPr>
            <a:r>
              <a:t>Audit</a:t>
            </a:r>
          </a:p>
        </p:txBody>
      </p:sp>
      <p:sp>
        <p:nvSpPr>
          <p:cNvPr id="30" name="TextBox 29"/>
          <p:cNvSpPr txBox="1"/>
          <p:nvPr/>
        </p:nvSpPr>
        <p:spPr>
          <a:xfrm>
            <a:off x="9281160" y="3383280"/>
            <a:ext cx="2468880" cy="640080"/>
          </a:xfrm>
          <a:prstGeom prst="rect">
            <a:avLst/>
          </a:prstGeom>
          <a:noFill/>
        </p:spPr>
        <p:txBody>
          <a:bodyPr wrap="square">
            <a:spAutoFit/>
          </a:bodyPr>
          <a:lstStyle/>
          <a:p>
            <a:pPr algn="l">
              <a:defRPr sz="1100" b="0">
                <a:solidFill>
                  <a:srgbClr val="1E293B"/>
                </a:solidFill>
              </a:defRPr>
            </a:pPr>
            <a:r>
              <a:t>• Every action logged for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Technology Choices &amp; Justification</a:t>
            </a:r>
          </a:p>
        </p:txBody>
      </p:sp>
      <p:graphicFrame>
        <p:nvGraphicFramePr>
          <p:cNvPr id="3" name="Table 2"/>
          <p:cNvGraphicFramePr>
            <a:graphicFrameLocks noGrp="1"/>
          </p:cNvGraphicFramePr>
          <p:nvPr/>
        </p:nvGraphicFramePr>
        <p:xfrm>
          <a:off x="457200" y="1097280"/>
          <a:ext cx="11155680" cy="2633472"/>
        </p:xfrm>
        <a:graphic>
          <a:graphicData uri="http://schemas.openxmlformats.org/drawingml/2006/table">
            <a:tbl>
              <a:tblPr firstRow="1" bandRow="1">
                <a:tableStyleId>{5C22544A-7EE6-4342-B048-85BDC9FD1C3A}</a:tableStyleId>
              </a:tblPr>
              <a:tblGrid>
                <a:gridCol w="1828800"/>
                <a:gridCol w="3474720"/>
                <a:gridCol w="5852160"/>
              </a:tblGrid>
              <a:tr h="329184">
                <a:tc>
                  <a:txBody>
                    <a:bodyPr/>
                    <a:lstStyle/>
                    <a:p>
                      <a:pPr>
                        <a:defRPr sz="1200" b="1">
                          <a:solidFill>
                            <a:srgbClr val="FFFFFF"/>
                          </a:solidFill>
                        </a:defRPr>
                      </a:pPr>
                      <a:r>
                        <a:t>Component</a:t>
                      </a:r>
                    </a:p>
                  </a:txBody>
                  <a:tcPr anchor="ctr">
                    <a:solidFill>
                      <a:srgbClr val="2563EB"/>
                    </a:solidFill>
                  </a:tcPr>
                </a:tc>
                <a:tc>
                  <a:txBody>
                    <a:bodyPr/>
                    <a:lstStyle/>
                    <a:p>
                      <a:pPr>
                        <a:defRPr sz="1200" b="1">
                          <a:solidFill>
                            <a:srgbClr val="FFFFFF"/>
                          </a:solidFill>
                        </a:defRPr>
                      </a:pPr>
                      <a:r>
                        <a:t>Choice</a:t>
                      </a:r>
                    </a:p>
                  </a:txBody>
                  <a:tcPr anchor="ctr">
                    <a:solidFill>
                      <a:srgbClr val="2563EB"/>
                    </a:solidFill>
                  </a:tcPr>
                </a:tc>
                <a:tc>
                  <a:txBody>
                    <a:bodyPr/>
                    <a:lstStyle/>
                    <a:p>
                      <a:pPr>
                        <a:defRPr sz="1200" b="1">
                          <a:solidFill>
                            <a:srgbClr val="FFFFFF"/>
                          </a:solidFill>
                        </a:defRPr>
                      </a:pPr>
                      <a:r>
                        <a:t>Why</a:t>
                      </a:r>
                    </a:p>
                  </a:txBody>
                  <a:tcPr anchor="ctr">
                    <a:solidFill>
                      <a:srgbClr val="2563EB"/>
                    </a:solidFill>
                  </a:tcPr>
                </a:tc>
              </a:tr>
              <a:tr h="329184">
                <a:tc>
                  <a:txBody>
                    <a:bodyPr/>
                    <a:lstStyle/>
                    <a:p>
                      <a:pPr>
                        <a:defRPr sz="1100" b="0">
                          <a:solidFill>
                            <a:srgbClr val="1E293B"/>
                          </a:solidFill>
                        </a:defRPr>
                      </a:pPr>
                      <a:r>
                        <a:t>Backend</a:t>
                      </a:r>
                    </a:p>
                  </a:txBody>
                  <a:tcPr anchor="ctr"/>
                </a:tc>
                <a:tc>
                  <a:txBody>
                    <a:bodyPr/>
                    <a:lstStyle/>
                    <a:p>
                      <a:pPr>
                        <a:defRPr sz="1100" b="0">
                          <a:solidFill>
                            <a:srgbClr val="1E293B"/>
                          </a:solidFill>
                        </a:defRPr>
                      </a:pPr>
                      <a:r>
                        <a:t>FastAPI (Python)</a:t>
                      </a:r>
                    </a:p>
                  </a:txBody>
                  <a:tcPr anchor="ctr"/>
                </a:tc>
                <a:tc>
                  <a:txBody>
                    <a:bodyPr/>
                    <a:lstStyle/>
                    <a:p>
                      <a:pPr>
                        <a:defRPr sz="1100" b="0">
                          <a:solidFill>
                            <a:srgbClr val="1E293B"/>
                          </a:solidFill>
                        </a:defRPr>
                      </a:pPr>
                      <a:r>
                        <a:t>Auto-generated OpenAPI docs, async, Pydantic validation, ML-native</a:t>
                      </a:r>
                    </a:p>
                  </a:txBody>
                  <a:tcPr anchor="ctr"/>
                </a:tc>
              </a:tr>
              <a:tr h="329184">
                <a:tc>
                  <a:txBody>
                    <a:bodyPr/>
                    <a:lstStyle/>
                    <a:p>
                      <a:pPr>
                        <a:defRPr sz="1100" b="0">
                          <a:solidFill>
                            <a:srgbClr val="1E293B"/>
                          </a:solidFill>
                        </a:defRPr>
                      </a:pPr>
                      <a:r>
                        <a:t>Frontend</a:t>
                      </a:r>
                    </a:p>
                  </a:txBody>
                  <a:tcPr anchor="ctr">
                    <a:solidFill>
                      <a:srgbClr val="F1F5F9"/>
                    </a:solidFill>
                  </a:tcPr>
                </a:tc>
                <a:tc>
                  <a:txBody>
                    <a:bodyPr/>
                    <a:lstStyle/>
                    <a:p>
                      <a:pPr>
                        <a:defRPr sz="1100" b="0">
                          <a:solidFill>
                            <a:srgbClr val="1E293B"/>
                          </a:solidFill>
                        </a:defRPr>
                      </a:pPr>
                      <a:r>
                        <a:t>React + TypeScript + Tailwind</a:t>
                      </a:r>
                    </a:p>
                  </a:txBody>
                  <a:tcPr anchor="ctr">
                    <a:solidFill>
                      <a:srgbClr val="F1F5F9"/>
                    </a:solidFill>
                  </a:tcPr>
                </a:tc>
                <a:tc>
                  <a:txBody>
                    <a:bodyPr/>
                    <a:lstStyle/>
                    <a:p>
                      <a:pPr>
                        <a:defRPr sz="1100" b="0">
                          <a:solidFill>
                            <a:srgbClr val="1E293B"/>
                          </a:solidFill>
                        </a:defRPr>
                      </a:pPr>
                      <a:r>
                        <a:t>Type safety, rapid styling, component reuse, Vite HMR</a:t>
                      </a:r>
                    </a:p>
                  </a:txBody>
                  <a:tcPr anchor="ctr">
                    <a:solidFill>
                      <a:srgbClr val="F1F5F9"/>
                    </a:solidFill>
                  </a:tcPr>
                </a:tc>
              </a:tr>
              <a:tr h="329184">
                <a:tc>
                  <a:txBody>
                    <a:bodyPr/>
                    <a:lstStyle/>
                    <a:p>
                      <a:pPr>
                        <a:defRPr sz="1100" b="0">
                          <a:solidFill>
                            <a:srgbClr val="1E293B"/>
                          </a:solidFill>
                        </a:defRPr>
                      </a:pPr>
                      <a:r>
                        <a:t>Database</a:t>
                      </a:r>
                    </a:p>
                  </a:txBody>
                  <a:tcPr anchor="ctr"/>
                </a:tc>
                <a:tc>
                  <a:txBody>
                    <a:bodyPr/>
                    <a:lstStyle/>
                    <a:p>
                      <a:pPr>
                        <a:defRPr sz="1100" b="0">
                          <a:solidFill>
                            <a:srgbClr val="1E293B"/>
                          </a:solidFill>
                        </a:defRPr>
                      </a:pPr>
                      <a:r>
                        <a:t>SQLite → PostgreSQL</a:t>
                      </a:r>
                    </a:p>
                  </a:txBody>
                  <a:tcPr anchor="ctr"/>
                </a:tc>
                <a:tc>
                  <a:txBody>
                    <a:bodyPr/>
                    <a:lstStyle/>
                    <a:p>
                      <a:pPr>
                        <a:defRPr sz="1100" b="0">
                          <a:solidFill>
                            <a:srgbClr val="1E293B"/>
                          </a:solidFill>
                        </a:defRPr>
                      </a:pPr>
                      <a:r>
                        <a:t>Zero-dependency POC; swap via connection string</a:t>
                      </a:r>
                    </a:p>
                  </a:txBody>
                  <a:tcPr anchor="ctr"/>
                </a:tc>
              </a:tr>
              <a:tr h="329184">
                <a:tc>
                  <a:txBody>
                    <a:bodyPr/>
                    <a:lstStyle/>
                    <a:p>
                      <a:pPr>
                        <a:defRPr sz="1100" b="0">
                          <a:solidFill>
                            <a:srgbClr val="1E293B"/>
                          </a:solidFill>
                        </a:defRPr>
                      </a:pPr>
                      <a:r>
                        <a:t>Auth</a:t>
                      </a:r>
                    </a:p>
                  </a:txBody>
                  <a:tcPr anchor="ctr">
                    <a:solidFill>
                      <a:srgbClr val="F1F5F9"/>
                    </a:solidFill>
                  </a:tcPr>
                </a:tc>
                <a:tc>
                  <a:txBody>
                    <a:bodyPr/>
                    <a:lstStyle/>
                    <a:p>
                      <a:pPr>
                        <a:defRPr sz="1100" b="0">
                          <a:solidFill>
                            <a:srgbClr val="1E293B"/>
                          </a:solidFill>
                        </a:defRPr>
                      </a:pPr>
                      <a:r>
                        <a:t>JWT + bcrypt</a:t>
                      </a:r>
                    </a:p>
                  </a:txBody>
                  <a:tcPr anchor="ctr">
                    <a:solidFill>
                      <a:srgbClr val="F1F5F9"/>
                    </a:solidFill>
                  </a:tcPr>
                </a:tc>
                <a:tc>
                  <a:txBody>
                    <a:bodyPr/>
                    <a:lstStyle/>
                    <a:p>
                      <a:pPr>
                        <a:defRPr sz="1100" b="0">
                          <a:solidFill>
                            <a:srgbClr val="1E293B"/>
                          </a:solidFill>
                        </a:defRPr>
                      </a:pPr>
                      <a:r>
                        <a:t>Stateless, no session server, standard OAuth2</a:t>
                      </a:r>
                    </a:p>
                  </a:txBody>
                  <a:tcPr anchor="ctr">
                    <a:solidFill>
                      <a:srgbClr val="F1F5F9"/>
                    </a:solidFill>
                  </a:tcPr>
                </a:tc>
              </a:tr>
              <a:tr h="329184">
                <a:tc>
                  <a:txBody>
                    <a:bodyPr/>
                    <a:lstStyle/>
                    <a:p>
                      <a:pPr>
                        <a:defRPr sz="1100" b="0">
                          <a:solidFill>
                            <a:srgbClr val="1E293B"/>
                          </a:solidFill>
                        </a:defRPr>
                      </a:pPr>
                      <a:r>
                        <a:t>AI/ML</a:t>
                      </a:r>
                    </a:p>
                  </a:txBody>
                  <a:tcPr anchor="ctr"/>
                </a:tc>
                <a:tc>
                  <a:txBody>
                    <a:bodyPr/>
                    <a:lstStyle/>
                    <a:p>
                      <a:pPr>
                        <a:defRPr sz="1100" b="0">
                          <a:solidFill>
                            <a:srgbClr val="1E293B"/>
                          </a:solidFill>
                        </a:defRPr>
                      </a:pPr>
                      <a:r>
                        <a:t>scikit-learn DecisionTree</a:t>
                      </a:r>
                    </a:p>
                  </a:txBody>
                  <a:tcPr anchor="ctr"/>
                </a:tc>
                <a:tc>
                  <a:txBody>
                    <a:bodyPr/>
                    <a:lstStyle/>
                    <a:p>
                      <a:pPr>
                        <a:defRPr sz="1100" b="0">
                          <a:solidFill>
                            <a:srgbClr val="1E293B"/>
                          </a:solidFill>
                        </a:defRPr>
                      </a:pPr>
                      <a:r>
                        <a:t>Explainable, small-data friendly, no GPU, O(depth) inference</a:t>
                      </a:r>
                    </a:p>
                  </a:txBody>
                  <a:tcPr anchor="ctr"/>
                </a:tc>
              </a:tr>
              <a:tr h="329184">
                <a:tc>
                  <a:txBody>
                    <a:bodyPr/>
                    <a:lstStyle/>
                    <a:p>
                      <a:pPr>
                        <a:defRPr sz="1100" b="0">
                          <a:solidFill>
                            <a:srgbClr val="1E293B"/>
                          </a:solidFill>
                        </a:defRPr>
                      </a:pPr>
                      <a:r>
                        <a:t>ORM</a:t>
                      </a:r>
                    </a:p>
                  </a:txBody>
                  <a:tcPr anchor="ctr">
                    <a:solidFill>
                      <a:srgbClr val="F1F5F9"/>
                    </a:solidFill>
                  </a:tcPr>
                </a:tc>
                <a:tc>
                  <a:txBody>
                    <a:bodyPr/>
                    <a:lstStyle/>
                    <a:p>
                      <a:pPr>
                        <a:defRPr sz="1100" b="0">
                          <a:solidFill>
                            <a:srgbClr val="1E293B"/>
                          </a:solidFill>
                        </a:defRPr>
                      </a:pPr>
                      <a:r>
                        <a:t>SQLAlchemy 2.0</a:t>
                      </a:r>
                    </a:p>
                  </a:txBody>
                  <a:tcPr anchor="ctr">
                    <a:solidFill>
                      <a:srgbClr val="F1F5F9"/>
                    </a:solidFill>
                  </a:tcPr>
                </a:tc>
                <a:tc>
                  <a:txBody>
                    <a:bodyPr/>
                    <a:lstStyle/>
                    <a:p>
                      <a:pPr>
                        <a:defRPr sz="1100" b="0">
                          <a:solidFill>
                            <a:srgbClr val="1E293B"/>
                          </a:solidFill>
                        </a:defRPr>
                      </a:pPr>
                      <a:r>
                        <a:t>Industry standard, migration support, dialect-agnostic</a:t>
                      </a:r>
                    </a:p>
                  </a:txBody>
                  <a:tcPr anchor="ctr">
                    <a:solidFill>
                      <a:srgbClr val="F1F5F9"/>
                    </a:solidFill>
                  </a:tcPr>
                </a:tc>
              </a:tr>
              <a:tr h="329184">
                <a:tc>
                  <a:txBody>
                    <a:bodyPr/>
                    <a:lstStyle/>
                    <a:p>
                      <a:pPr>
                        <a:defRPr sz="1100" b="0">
                          <a:solidFill>
                            <a:srgbClr val="1E293B"/>
                          </a:solidFill>
                        </a:defRPr>
                      </a:pPr>
                      <a:r>
                        <a:t>CI/CD</a:t>
                      </a:r>
                    </a:p>
                  </a:txBody>
                  <a:tcPr anchor="ctr"/>
                </a:tc>
                <a:tc>
                  <a:txBody>
                    <a:bodyPr/>
                    <a:lstStyle/>
                    <a:p>
                      <a:pPr>
                        <a:defRPr sz="1100" b="0">
                          <a:solidFill>
                            <a:srgbClr val="1E293B"/>
                          </a:solidFill>
                        </a:defRPr>
                      </a:pPr>
                      <a:r>
                        <a:t>GitHub Actions + Docker</a:t>
                      </a:r>
                    </a:p>
                  </a:txBody>
                  <a:tcPr anchor="ctr"/>
                </a:tc>
                <a:tc>
                  <a:txBody>
                    <a:bodyPr/>
                    <a:lstStyle/>
                    <a:p>
                      <a:pPr>
                        <a:defRPr sz="1100" b="0">
                          <a:solidFill>
                            <a:srgbClr val="1E293B"/>
                          </a:solidFill>
                        </a:defRPr>
                      </a:pPr>
                      <a:r>
                        <a:t>Free, native Docker, matrix testing</a:t>
                      </a:r>
                    </a:p>
                  </a:txBody>
                  <a:tcPr anchor="ctr"/>
                </a:tc>
              </a:tr>
            </a:tbl>
          </a:graphicData>
        </a:graphic>
      </p:graphicFrame>
      <p:sp>
        <p:nvSpPr>
          <p:cNvPr id="4" name="Rounded Rectangle 3"/>
          <p:cNvSpPr/>
          <p:nvPr/>
        </p:nvSpPr>
        <p:spPr>
          <a:xfrm>
            <a:off x="457200" y="4846320"/>
            <a:ext cx="11247120" cy="9144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937760"/>
            <a:ext cx="10972800" cy="731520"/>
          </a:xfrm>
          <a:prstGeom prst="rect">
            <a:avLst/>
          </a:prstGeom>
          <a:noFill/>
        </p:spPr>
        <p:txBody>
          <a:bodyPr wrap="square">
            <a:spAutoFit/>
          </a:bodyPr>
          <a:lstStyle/>
          <a:p>
            <a:pPr algn="l">
              <a:defRPr sz="1300" b="0">
                <a:solidFill>
                  <a:srgbClr val="1E293B"/>
                </a:solidFill>
              </a:defRPr>
            </a:pPr>
            <a:r>
              <a:t>Why Python over .NET for this POC?  Python runs natively on Mac without SDK installation, SQLite eliminates external DB dependencies, and Python is the native ecosystem for ML (scikit-learn, numpy). Same Clean Architecture boundaries apply.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RBAC – Role-Based Access Control</a:t>
            </a:r>
          </a:p>
        </p:txBody>
      </p:sp>
      <p:sp>
        <p:nvSpPr>
          <p:cNvPr id="3" name="TextBox 2"/>
          <p:cNvSpPr txBox="1"/>
          <p:nvPr/>
        </p:nvSpPr>
        <p:spPr>
          <a:xfrm>
            <a:off x="457200" y="1005840"/>
            <a:ext cx="10972800" cy="365760"/>
          </a:xfrm>
          <a:prstGeom prst="rect">
            <a:avLst/>
          </a:prstGeom>
          <a:noFill/>
        </p:spPr>
        <p:txBody>
          <a:bodyPr wrap="square">
            <a:spAutoFit/>
          </a:bodyPr>
          <a:lstStyle/>
          <a:p>
            <a:pPr algn="l">
              <a:defRPr sz="1400" b="0">
                <a:solidFill>
                  <a:srgbClr val="64748B"/>
                </a:solidFill>
              </a:defRPr>
            </a:pPr>
            <a:r>
              <a:t>5 roles with granular permissions enforced at the API layer:</a:t>
            </a:r>
          </a:p>
        </p:txBody>
      </p:sp>
      <p:graphicFrame>
        <p:nvGraphicFramePr>
          <p:cNvPr id="4" name="Table 3"/>
          <p:cNvGraphicFramePr>
            <a:graphicFrameLocks noGrp="1"/>
          </p:cNvGraphicFramePr>
          <p:nvPr/>
        </p:nvGraphicFramePr>
        <p:xfrm>
          <a:off x="731520" y="1463040"/>
          <a:ext cx="9144000" cy="2962656"/>
        </p:xfrm>
        <a:graphic>
          <a:graphicData uri="http://schemas.openxmlformats.org/drawingml/2006/table">
            <a:tbl>
              <a:tblPr firstRow="1" bandRow="1">
                <a:tableStyleId>{5C22544A-7EE6-4342-B048-85BDC9FD1C3A}</a:tableStyleId>
              </a:tblPr>
              <a:tblGrid>
                <a:gridCol w="2560320"/>
                <a:gridCol w="1280160"/>
                <a:gridCol w="1280160"/>
                <a:gridCol w="1280160"/>
                <a:gridCol w="1463040"/>
                <a:gridCol w="1280160"/>
              </a:tblGrid>
              <a:tr h="329184">
                <a:tc>
                  <a:txBody>
                    <a:bodyPr/>
                    <a:lstStyle/>
                    <a:p>
                      <a:pPr>
                        <a:defRPr sz="1200" b="1">
                          <a:solidFill>
                            <a:srgbClr val="FFFFFF"/>
                          </a:solidFill>
                        </a:defRPr>
                      </a:pPr>
                      <a:r>
                        <a:t>Permission</a:t>
                      </a:r>
                    </a:p>
                  </a:txBody>
                  <a:tcPr anchor="ctr">
                    <a:solidFill>
                      <a:srgbClr val="2563EB"/>
                    </a:solidFill>
                  </a:tcPr>
                </a:tc>
                <a:tc>
                  <a:txBody>
                    <a:bodyPr/>
                    <a:lstStyle/>
                    <a:p>
                      <a:pPr>
                        <a:defRPr sz="1200" b="1">
                          <a:solidFill>
                            <a:srgbClr val="FFFFFF"/>
                          </a:solidFill>
                        </a:defRPr>
                      </a:pPr>
                      <a:r>
                        <a:t>Admin</a:t>
                      </a:r>
                    </a:p>
                  </a:txBody>
                  <a:tcPr anchor="ctr">
                    <a:solidFill>
                      <a:srgbClr val="2563EB"/>
                    </a:solidFill>
                  </a:tcPr>
                </a:tc>
                <a:tc>
                  <a:txBody>
                    <a:bodyPr/>
                    <a:lstStyle/>
                    <a:p>
                      <a:pPr>
                        <a:defRPr sz="1200" b="1">
                          <a:solidFill>
                            <a:srgbClr val="FFFFFF"/>
                          </a:solidFill>
                        </a:defRPr>
                      </a:pPr>
                      <a:r>
                        <a:t>Manager</a:t>
                      </a:r>
                    </a:p>
                  </a:txBody>
                  <a:tcPr anchor="ctr">
                    <a:solidFill>
                      <a:srgbClr val="2563EB"/>
                    </a:solidFill>
                  </a:tcPr>
                </a:tc>
                <a:tc>
                  <a:txBody>
                    <a:bodyPr/>
                    <a:lstStyle/>
                    <a:p>
                      <a:pPr>
                        <a:defRPr sz="1200" b="1">
                          <a:solidFill>
                            <a:srgbClr val="FFFFFF"/>
                          </a:solidFill>
                        </a:defRPr>
                      </a:pPr>
                      <a:r>
                        <a:t>Trainer</a:t>
                      </a:r>
                    </a:p>
                  </a:txBody>
                  <a:tcPr anchor="ctr">
                    <a:solidFill>
                      <a:srgbClr val="2563EB"/>
                    </a:solidFill>
                  </a:tcPr>
                </a:tc>
                <a:tc>
                  <a:txBody>
                    <a:bodyPr/>
                    <a:lstStyle/>
                    <a:p>
                      <a:pPr>
                        <a:defRPr sz="1200" b="1">
                          <a:solidFill>
                            <a:srgbClr val="FFFFFF"/>
                          </a:solidFill>
                        </a:defRPr>
                      </a:pPr>
                      <a:r>
                        <a:t>Compliance</a:t>
                      </a:r>
                    </a:p>
                  </a:txBody>
                  <a:tcPr anchor="ctr">
                    <a:solidFill>
                      <a:srgbClr val="2563EB"/>
                    </a:solidFill>
                  </a:tcPr>
                </a:tc>
                <a:tc>
                  <a:txBody>
                    <a:bodyPr/>
                    <a:lstStyle/>
                    <a:p>
                      <a:pPr>
                        <a:defRPr sz="1200" b="1">
                          <a:solidFill>
                            <a:srgbClr val="FFFFFF"/>
                          </a:solidFill>
                        </a:defRPr>
                      </a:pPr>
                      <a:r>
                        <a:t>Learner</a:t>
                      </a:r>
                    </a:p>
                  </a:txBody>
                  <a:tcPr anchor="ctr">
                    <a:solidFill>
                      <a:srgbClr val="2563EB"/>
                    </a:solidFill>
                  </a:tcPr>
                </a:tc>
              </a:tr>
              <a:tr h="329184">
                <a:tc>
                  <a:txBody>
                    <a:bodyPr/>
                    <a:lstStyle/>
                    <a:p>
                      <a:pPr>
                        <a:defRPr sz="1100" b="0">
                          <a:solidFill>
                            <a:srgbClr val="1E293B"/>
                          </a:solidFill>
                        </a:defRPr>
                      </a:pPr>
                      <a:r>
                        <a:t>read_all_learners</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DC2626"/>
                          </a:solidFill>
                        </a:defRPr>
                      </a:pPr>
                      <a:r>
                        <a:t>❌</a:t>
                      </a:r>
                    </a:p>
                  </a:txBody>
                  <a:tcPr anchor="ctr"/>
                </a:tc>
              </a:tr>
              <a:tr h="329184">
                <a:tc>
                  <a:txBody>
                    <a:bodyPr/>
                    <a:lstStyle/>
                    <a:p>
                      <a:pPr>
                        <a:defRPr sz="1100" b="0">
                          <a:solidFill>
                            <a:srgbClr val="1E293B"/>
                          </a:solidFill>
                        </a:defRPr>
                      </a:pPr>
                      <a:r>
                        <a:t>write_ingestion</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r>
              <a:tr h="329184">
                <a:tc>
                  <a:txBody>
                    <a:bodyPr/>
                    <a:lstStyle/>
                    <a:p>
                      <a:pPr>
                        <a:defRPr sz="1100" b="0">
                          <a:solidFill>
                            <a:srgbClr val="1E293B"/>
                          </a:solidFill>
                        </a:defRPr>
                      </a:pPr>
                      <a:r>
                        <a:t>read_risk</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DC2626"/>
                          </a:solidFill>
                        </a:defRPr>
                      </a:pPr>
                      <a:r>
                        <a:t>❌</a:t>
                      </a:r>
                    </a:p>
                  </a:txBody>
                  <a:tcPr anchor="ctr"/>
                </a:tc>
              </a:tr>
              <a:tr h="329184">
                <a:tc>
                  <a:txBody>
                    <a:bodyPr/>
                    <a:lstStyle/>
                    <a:p>
                      <a:pPr>
                        <a:defRPr sz="1100" b="0">
                          <a:solidFill>
                            <a:srgbClr val="1E293B"/>
                          </a:solidFill>
                        </a:defRPr>
                      </a:pPr>
                      <a:r>
                        <a:t>write_interventions</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r>
              <a:tr h="329184">
                <a:tc>
                  <a:txBody>
                    <a:bodyPr/>
                    <a:lstStyle/>
                    <a:p>
                      <a:pPr>
                        <a:defRPr sz="1100" b="0">
                          <a:solidFill>
                            <a:srgbClr val="1E293B"/>
                          </a:solidFill>
                        </a:defRPr>
                      </a:pPr>
                      <a:r>
                        <a:t>read_compliance</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DC2626"/>
                          </a:solidFill>
                        </a:defRPr>
                      </a:pPr>
                      <a:r>
                        <a:t>❌</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DC2626"/>
                          </a:solidFill>
                        </a:defRPr>
                      </a:pPr>
                      <a:r>
                        <a:t>❌</a:t>
                      </a:r>
                    </a:p>
                  </a:txBody>
                  <a:tcPr anchor="ctr"/>
                </a:tc>
              </a:tr>
              <a:tr h="329184">
                <a:tc>
                  <a:txBody>
                    <a:bodyPr/>
                    <a:lstStyle/>
                    <a:p>
                      <a:pPr>
                        <a:defRPr sz="1100" b="0">
                          <a:solidFill>
                            <a:srgbClr val="1E293B"/>
                          </a:solidFill>
                        </a:defRPr>
                      </a:pPr>
                      <a:r>
                        <a:t>read_audit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r>
              <a:tr h="329184">
                <a:tc>
                  <a:txBody>
                    <a:bodyPr/>
                    <a:lstStyle/>
                    <a:p>
                      <a:pPr>
                        <a:defRPr sz="1100" b="0">
                          <a:solidFill>
                            <a:srgbClr val="1E293B"/>
                          </a:solidFill>
                        </a:defRPr>
                      </a:pPr>
                      <a:r>
                        <a:t>manage_users</a:t>
                      </a:r>
                    </a:p>
                  </a:txBody>
                  <a:tcPr anchor="ctr"/>
                </a:tc>
                <a:tc>
                  <a:txBody>
                    <a:bodyPr/>
                    <a:lstStyle/>
                    <a:p>
                      <a:pPr algn="ctr">
                        <a:defRPr sz="1400" b="0">
                          <a:solidFill>
                            <a:srgbClr val="16A34A"/>
                          </a:solidFill>
                        </a:defRPr>
                      </a:pPr>
                      <a:r>
                        <a:t>✅</a:t>
                      </a:r>
                    </a:p>
                  </a:txBody>
                  <a:tcPr anchor="ctr"/>
                </a:tc>
                <a:tc>
                  <a:txBody>
                    <a:bodyPr/>
                    <a:lstStyle/>
                    <a:p>
                      <a:pPr algn="ctr">
                        <a:defRPr sz="1400" b="0">
                          <a:solidFill>
                            <a:srgbClr val="DC2626"/>
                          </a:solidFill>
                        </a:defRPr>
                      </a:pPr>
                      <a:r>
                        <a:t>❌</a:t>
                      </a:r>
                    </a:p>
                  </a:txBody>
                  <a:tcPr anchor="ctr"/>
                </a:tc>
                <a:tc>
                  <a:txBody>
                    <a:bodyPr/>
                    <a:lstStyle/>
                    <a:p>
                      <a:pPr algn="ctr">
                        <a:defRPr sz="1400" b="0">
                          <a:solidFill>
                            <a:srgbClr val="DC2626"/>
                          </a:solidFill>
                        </a:defRPr>
                      </a:pPr>
                      <a:r>
                        <a:t>❌</a:t>
                      </a:r>
                    </a:p>
                  </a:txBody>
                  <a:tcPr anchor="ctr"/>
                </a:tc>
                <a:tc>
                  <a:txBody>
                    <a:bodyPr/>
                    <a:lstStyle/>
                    <a:p>
                      <a:pPr algn="ctr">
                        <a:defRPr sz="1400" b="0">
                          <a:solidFill>
                            <a:srgbClr val="DC2626"/>
                          </a:solidFill>
                        </a:defRPr>
                      </a:pPr>
                      <a:r>
                        <a:t>❌</a:t>
                      </a:r>
                    </a:p>
                  </a:txBody>
                  <a:tcPr anchor="ctr"/>
                </a:tc>
                <a:tc>
                  <a:txBody>
                    <a:bodyPr/>
                    <a:lstStyle/>
                    <a:p>
                      <a:pPr algn="ctr">
                        <a:defRPr sz="1400" b="0">
                          <a:solidFill>
                            <a:srgbClr val="DC2626"/>
                          </a:solidFill>
                        </a:defRPr>
                      </a:pPr>
                      <a:r>
                        <a:t>❌</a:t>
                      </a:r>
                    </a:p>
                  </a:txBody>
                  <a:tcPr anchor="ctr"/>
                </a:tc>
              </a:tr>
              <a:tr h="329184">
                <a:tc>
                  <a:txBody>
                    <a:bodyPr/>
                    <a:lstStyle/>
                    <a:p>
                      <a:pPr>
                        <a:defRPr sz="1100" b="0">
                          <a:solidFill>
                            <a:srgbClr val="1E293B"/>
                          </a:solidFill>
                        </a:defRPr>
                      </a:pPr>
                      <a:r>
                        <a:t>read_own_profile</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DC2626"/>
                          </a:solidFill>
                        </a:defRPr>
                      </a:pPr>
                      <a:r>
                        <a:t>❌</a:t>
                      </a:r>
                    </a:p>
                  </a:txBody>
                  <a:tcPr anchor="ctr">
                    <a:solidFill>
                      <a:srgbClr val="F1F5F9"/>
                    </a:solidFill>
                  </a:tcPr>
                </a:tc>
                <a:tc>
                  <a:txBody>
                    <a:bodyPr/>
                    <a:lstStyle/>
                    <a:p>
                      <a:pPr algn="ctr">
                        <a:defRPr sz="1400" b="0">
                          <a:solidFill>
                            <a:srgbClr val="16A34A"/>
                          </a:solidFill>
                        </a:defRPr>
                      </a:pPr>
                      <a:r>
                        <a:t>✅</a:t>
                      </a:r>
                    </a:p>
                  </a:txBody>
                  <a:tcPr anchor="ctr">
                    <a:solidFill>
                      <a:srgbClr val="F1F5F9"/>
                    </a:solidFill>
                  </a:tcPr>
                </a:tc>
              </a:tr>
            </a:tbl>
          </a:graphicData>
        </a:graphic>
      </p:graphicFrame>
      <p:sp>
        <p:nvSpPr>
          <p:cNvPr id="5" name="TextBox 4"/>
          <p:cNvSpPr txBox="1"/>
          <p:nvPr/>
        </p:nvSpPr>
        <p:spPr>
          <a:xfrm>
            <a:off x="457200" y="5486400"/>
            <a:ext cx="10972800" cy="365760"/>
          </a:xfrm>
          <a:prstGeom prst="rect">
            <a:avLst/>
          </a:prstGeom>
          <a:noFill/>
        </p:spPr>
        <p:txBody>
          <a:bodyPr wrap="square">
            <a:spAutoFit/>
          </a:bodyPr>
          <a:lstStyle/>
          <a:p>
            <a:pPr algn="l">
              <a:defRPr sz="1200" b="0">
                <a:solidFill>
                  <a:srgbClr val="64748B"/>
                </a:solidFill>
              </a:defRPr>
            </a:pPr>
            <a:r>
              <a:t>Implementation: RequirePermission("perm") FastAPI dependency on each endpoint. Frontend tabs adapt per role.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AI Risk Prediction Engine</a:t>
            </a:r>
          </a:p>
        </p:txBody>
      </p:sp>
      <p:sp>
        <p:nvSpPr>
          <p:cNvPr id="3" name="Rounded Rectangle 2"/>
          <p:cNvSpPr/>
          <p:nvPr/>
        </p:nvSpPr>
        <p:spPr>
          <a:xfrm>
            <a:off x="365760" y="1097280"/>
            <a:ext cx="5029200" cy="1005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097280"/>
            <a:ext cx="73152" cy="1005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70432"/>
            <a:ext cx="4754880" cy="320040"/>
          </a:xfrm>
          <a:prstGeom prst="rect">
            <a:avLst/>
          </a:prstGeom>
          <a:noFill/>
        </p:spPr>
        <p:txBody>
          <a:bodyPr wrap="square">
            <a:spAutoFit/>
          </a:bodyPr>
          <a:lstStyle/>
          <a:p>
            <a:pPr algn="l">
              <a:defRPr sz="1200" b="1">
                <a:solidFill>
                  <a:srgbClr val="2563EB"/>
                </a:solidFill>
              </a:defRPr>
            </a:pPr>
            <a:r>
              <a:t>Layer 1: Rule Engine</a:t>
            </a:r>
          </a:p>
        </p:txBody>
      </p:sp>
      <p:sp>
        <p:nvSpPr>
          <p:cNvPr id="6" name="TextBox 5"/>
          <p:cNvSpPr txBox="1"/>
          <p:nvPr/>
        </p:nvSpPr>
        <p:spPr>
          <a:xfrm>
            <a:off x="548640" y="1463040"/>
            <a:ext cx="4754880" cy="548640"/>
          </a:xfrm>
          <a:prstGeom prst="rect">
            <a:avLst/>
          </a:prstGeom>
          <a:noFill/>
        </p:spPr>
        <p:txBody>
          <a:bodyPr wrap="square">
            <a:spAutoFit/>
          </a:bodyPr>
          <a:lstStyle/>
          <a:p>
            <a:pPr algn="l">
              <a:defRPr sz="1100" b="0">
                <a:solidFill>
                  <a:srgbClr val="1E293B"/>
                </a:solidFill>
              </a:defRPr>
            </a:pPr>
            <a:r>
              <a:t>• Configurable rules with thresholds and weights</a:t>
            </a:r>
            <a:br/>
            <a:r>
              <a:t>• 7 pre-built rules: attendance, scores, failures, overdue</a:t>
            </a:r>
          </a:p>
        </p:txBody>
      </p:sp>
      <p:sp>
        <p:nvSpPr>
          <p:cNvPr id="7" name="Rounded Rectangle 6"/>
          <p:cNvSpPr/>
          <p:nvPr/>
        </p:nvSpPr>
        <p:spPr>
          <a:xfrm>
            <a:off x="365760" y="2286000"/>
            <a:ext cx="5029200" cy="1005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86000"/>
            <a:ext cx="731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59152"/>
            <a:ext cx="4754880" cy="320040"/>
          </a:xfrm>
          <a:prstGeom prst="rect">
            <a:avLst/>
          </a:prstGeom>
          <a:noFill/>
        </p:spPr>
        <p:txBody>
          <a:bodyPr wrap="square">
            <a:spAutoFit/>
          </a:bodyPr>
          <a:lstStyle/>
          <a:p>
            <a:pPr algn="l">
              <a:defRPr sz="1200" b="1">
                <a:solidFill>
                  <a:srgbClr val="7C3AED"/>
                </a:solidFill>
              </a:defRPr>
            </a:pPr>
            <a:r>
              <a:t>Layer 2: ML Model (Decision Tree)</a:t>
            </a:r>
          </a:p>
        </p:txBody>
      </p:sp>
      <p:sp>
        <p:nvSpPr>
          <p:cNvPr id="10" name="TextBox 9"/>
          <p:cNvSpPr txBox="1"/>
          <p:nvPr/>
        </p:nvSpPr>
        <p:spPr>
          <a:xfrm>
            <a:off x="548640" y="2651760"/>
            <a:ext cx="4754880" cy="548640"/>
          </a:xfrm>
          <a:prstGeom prst="rect">
            <a:avLst/>
          </a:prstGeom>
          <a:noFill/>
        </p:spPr>
        <p:txBody>
          <a:bodyPr wrap="square">
            <a:spAutoFit/>
          </a:bodyPr>
          <a:lstStyle/>
          <a:p>
            <a:pPr algn="l">
              <a:defRPr sz="1100" b="0">
                <a:solidFill>
                  <a:srgbClr val="1E293B"/>
                </a:solidFill>
              </a:defRPr>
            </a:pPr>
            <a:r>
              <a:t>• Trained on historical risk labels</a:t>
            </a:r>
            <a:br/>
            <a:r>
              <a:t>• Used when confidence &gt; 60%, falls back to rules otherwise</a:t>
            </a:r>
          </a:p>
        </p:txBody>
      </p:sp>
      <p:sp>
        <p:nvSpPr>
          <p:cNvPr id="11" name="TextBox 10"/>
          <p:cNvSpPr txBox="1"/>
          <p:nvPr/>
        </p:nvSpPr>
        <p:spPr>
          <a:xfrm>
            <a:off x="457200" y="3474720"/>
            <a:ext cx="5029200" cy="320040"/>
          </a:xfrm>
          <a:prstGeom prst="rect">
            <a:avLst/>
          </a:prstGeom>
          <a:noFill/>
        </p:spPr>
        <p:txBody>
          <a:bodyPr wrap="square">
            <a:spAutoFit/>
          </a:bodyPr>
          <a:lstStyle/>
          <a:p>
            <a:pPr algn="l">
              <a:defRPr sz="1500" b="1">
                <a:solidFill>
                  <a:srgbClr val="2563EB"/>
                </a:solidFill>
              </a:defRPr>
            </a:pPr>
            <a:r>
              <a:t>Why Decision Tree?</a:t>
            </a:r>
          </a:p>
        </p:txBody>
      </p:sp>
      <p:sp>
        <p:nvSpPr>
          <p:cNvPr id="12" name="TextBox 11"/>
          <p:cNvSpPr txBox="1"/>
          <p:nvPr/>
        </p:nvSpPr>
        <p:spPr>
          <a:xfrm>
            <a:off x="457200" y="3840480"/>
            <a:ext cx="5029200" cy="2286000"/>
          </a:xfrm>
          <a:prstGeom prst="rect">
            <a:avLst/>
          </a:prstGeom>
          <a:noFill/>
        </p:spPr>
        <p:txBody>
          <a:bodyPr wrap="square">
            <a:spAutoFit/>
          </a:bodyPr>
          <a:lstStyle/>
          <a:p>
            <a:pPr algn="l">
              <a:defRPr sz="1200" b="0">
                <a:solidFill>
                  <a:srgbClr val="1E293B"/>
                </a:solidFill>
              </a:defRPr>
            </a:pPr>
            <a:r>
              <a:t>• Explainable — human-readable for compliance audit</a:t>
            </a:r>
            <a:br/>
            <a:r>
              <a:t>• Small data friendly — works with hundreds of records</a:t>
            </a:r>
            <a:br/>
            <a:r>
              <a:t>• Low latency — real-time scoring during ingestion</a:t>
            </a:r>
            <a:br/>
            <a:r>
              <a:t>• No GPU — runs on any laptop</a:t>
            </a:r>
            <a:br/>
            <a:r>
              <a:t>• Feature importance — shows what drives risk most</a:t>
            </a:r>
          </a:p>
        </p:txBody>
      </p:sp>
      <p:graphicFrame>
        <p:nvGraphicFramePr>
          <p:cNvPr id="13" name="Table 12"/>
          <p:cNvGraphicFramePr>
            <a:graphicFrameLocks noGrp="1"/>
          </p:cNvGraphicFramePr>
          <p:nvPr/>
        </p:nvGraphicFramePr>
        <p:xfrm>
          <a:off x="5943600" y="1097280"/>
          <a:ext cx="5486400" cy="2304288"/>
        </p:xfrm>
        <a:graphic>
          <a:graphicData uri="http://schemas.openxmlformats.org/drawingml/2006/table">
            <a:tbl>
              <a:tblPr firstRow="1" bandRow="1">
                <a:tableStyleId>{5C22544A-7EE6-4342-B048-85BDC9FD1C3A}</a:tableStyleId>
              </a:tblPr>
              <a:tblGrid>
                <a:gridCol w="2286000"/>
                <a:gridCol w="3200400"/>
              </a:tblGrid>
              <a:tr h="329184">
                <a:tc>
                  <a:txBody>
                    <a:bodyPr/>
                    <a:lstStyle/>
                    <a:p>
                      <a:pPr>
                        <a:defRPr sz="1200" b="1">
                          <a:solidFill>
                            <a:srgbClr val="FFFFFF"/>
                          </a:solidFill>
                        </a:defRPr>
                      </a:pPr>
                      <a:r>
                        <a:t>Feature</a:t>
                      </a:r>
                    </a:p>
                  </a:txBody>
                  <a:tcPr anchor="ctr">
                    <a:solidFill>
                      <a:srgbClr val="2563EB"/>
                    </a:solidFill>
                  </a:tcPr>
                </a:tc>
                <a:tc>
                  <a:txBody>
                    <a:bodyPr/>
                    <a:lstStyle/>
                    <a:p>
                      <a:pPr>
                        <a:defRPr sz="1200" b="1">
                          <a:solidFill>
                            <a:srgbClr val="FFFFFF"/>
                          </a:solidFill>
                        </a:defRPr>
                      </a:pPr>
                      <a:r>
                        <a:t>Source</a:t>
                      </a:r>
                    </a:p>
                  </a:txBody>
                  <a:tcPr anchor="ctr">
                    <a:solidFill>
                      <a:srgbClr val="2563EB"/>
                    </a:solidFill>
                  </a:tcPr>
                </a:tc>
              </a:tr>
              <a:tr h="329184">
                <a:tc>
                  <a:txBody>
                    <a:bodyPr/>
                    <a:lstStyle/>
                    <a:p>
                      <a:pPr>
                        <a:defRPr sz="1100" b="0">
                          <a:solidFill>
                            <a:srgbClr val="1E293B"/>
                          </a:solidFill>
                        </a:defRPr>
                      </a:pPr>
                      <a:r>
                        <a:t>attendance_pct</a:t>
                      </a:r>
                    </a:p>
                  </a:txBody>
                  <a:tcPr anchor="ctr"/>
                </a:tc>
                <a:tc>
                  <a:txBody>
                    <a:bodyPr/>
                    <a:lstStyle/>
                    <a:p>
                      <a:pPr>
                        <a:defRPr sz="1100" b="0">
                          <a:solidFill>
                            <a:srgbClr val="1E293B"/>
                          </a:solidFill>
                        </a:defRPr>
                      </a:pPr>
                      <a:r>
                        <a:t>Attendance records</a:t>
                      </a:r>
                    </a:p>
                  </a:txBody>
                  <a:tcPr anchor="ctr"/>
                </a:tc>
              </a:tr>
              <a:tr h="329184">
                <a:tc>
                  <a:txBody>
                    <a:bodyPr/>
                    <a:lstStyle/>
                    <a:p>
                      <a:pPr>
                        <a:defRPr sz="1100" b="0">
                          <a:solidFill>
                            <a:srgbClr val="1E293B"/>
                          </a:solidFill>
                        </a:defRPr>
                      </a:pPr>
                      <a:r>
                        <a:t>avg_score</a:t>
                      </a:r>
                    </a:p>
                  </a:txBody>
                  <a:tcPr anchor="ctr">
                    <a:solidFill>
                      <a:srgbClr val="F1F5F9"/>
                    </a:solidFill>
                  </a:tcPr>
                </a:tc>
                <a:tc>
                  <a:txBody>
                    <a:bodyPr/>
                    <a:lstStyle/>
                    <a:p>
                      <a:pPr>
                        <a:defRPr sz="1100" b="0">
                          <a:solidFill>
                            <a:srgbClr val="1E293B"/>
                          </a:solidFill>
                        </a:defRPr>
                      </a:pPr>
                      <a:r>
                        <a:t>Assessment results</a:t>
                      </a:r>
                    </a:p>
                  </a:txBody>
                  <a:tcPr anchor="ctr">
                    <a:solidFill>
                      <a:srgbClr val="F1F5F9"/>
                    </a:solidFill>
                  </a:tcPr>
                </a:tc>
              </a:tr>
              <a:tr h="329184">
                <a:tc>
                  <a:txBody>
                    <a:bodyPr/>
                    <a:lstStyle/>
                    <a:p>
                      <a:pPr>
                        <a:defRPr sz="1100" b="0">
                          <a:solidFill>
                            <a:srgbClr val="1E293B"/>
                          </a:solidFill>
                        </a:defRPr>
                      </a:pPr>
                      <a:r>
                        <a:t>failed_ratio</a:t>
                      </a:r>
                    </a:p>
                  </a:txBody>
                  <a:tcPr anchor="ctr"/>
                </a:tc>
                <a:tc>
                  <a:txBody>
                    <a:bodyPr/>
                    <a:lstStyle/>
                    <a:p>
                      <a:pPr>
                        <a:defRPr sz="1100" b="0">
                          <a:solidFill>
                            <a:srgbClr val="1E293B"/>
                          </a:solidFill>
                        </a:defRPr>
                      </a:pPr>
                      <a:r>
                        <a:t>Failed / total assessments</a:t>
                      </a:r>
                    </a:p>
                  </a:txBody>
                  <a:tcPr anchor="ctr"/>
                </a:tc>
              </a:tr>
              <a:tr h="329184">
                <a:tc>
                  <a:txBody>
                    <a:bodyPr/>
                    <a:lstStyle/>
                    <a:p>
                      <a:pPr>
                        <a:defRPr sz="1100" b="0">
                          <a:solidFill>
                            <a:srgbClr val="1E293B"/>
                          </a:solidFill>
                        </a:defRPr>
                      </a:pPr>
                      <a:r>
                        <a:t>completion_ratio</a:t>
                      </a:r>
                    </a:p>
                  </a:txBody>
                  <a:tcPr anchor="ctr">
                    <a:solidFill>
                      <a:srgbClr val="F1F5F9"/>
                    </a:solidFill>
                  </a:tcPr>
                </a:tc>
                <a:tc>
                  <a:txBody>
                    <a:bodyPr/>
                    <a:lstStyle/>
                    <a:p>
                      <a:pPr>
                        <a:defRPr sz="1100" b="0">
                          <a:solidFill>
                            <a:srgbClr val="1E293B"/>
                          </a:solidFill>
                        </a:defRPr>
                      </a:pPr>
                      <a:r>
                        <a:t>Completed competencies</a:t>
                      </a:r>
                    </a:p>
                  </a:txBody>
                  <a:tcPr anchor="ctr">
                    <a:solidFill>
                      <a:srgbClr val="F1F5F9"/>
                    </a:solidFill>
                  </a:tcPr>
                </a:tc>
              </a:tr>
              <a:tr h="329184">
                <a:tc>
                  <a:txBody>
                    <a:bodyPr/>
                    <a:lstStyle/>
                    <a:p>
                      <a:pPr>
                        <a:defRPr sz="1100" b="0">
                          <a:solidFill>
                            <a:srgbClr val="1E293B"/>
                          </a:solidFill>
                        </a:defRPr>
                      </a:pPr>
                      <a:r>
                        <a:t>overdue_ratio</a:t>
                      </a:r>
                    </a:p>
                  </a:txBody>
                  <a:tcPr anchor="ctr"/>
                </a:tc>
                <a:tc>
                  <a:txBody>
                    <a:bodyPr/>
                    <a:lstStyle/>
                    <a:p>
                      <a:pPr>
                        <a:defRPr sz="1100" b="0">
                          <a:solidFill>
                            <a:srgbClr val="1E293B"/>
                          </a:solidFill>
                        </a:defRPr>
                      </a:pPr>
                      <a:r>
                        <a:t>Overdue competencies</a:t>
                      </a:r>
                    </a:p>
                  </a:txBody>
                  <a:tcPr anchor="ctr"/>
                </a:tc>
              </a:tr>
              <a:tr h="329184">
                <a:tc>
                  <a:txBody>
                    <a:bodyPr/>
                    <a:lstStyle/>
                    <a:p>
                      <a:pPr>
                        <a:defRPr sz="1100" b="0">
                          <a:solidFill>
                            <a:srgbClr val="1E293B"/>
                          </a:solidFill>
                        </a:defRPr>
                      </a:pPr>
                      <a:r>
                        <a:t>enrollment_count</a:t>
                      </a:r>
                    </a:p>
                  </a:txBody>
                  <a:tcPr anchor="ctr">
                    <a:solidFill>
                      <a:srgbClr val="F1F5F9"/>
                    </a:solidFill>
                  </a:tcPr>
                </a:tc>
                <a:tc>
                  <a:txBody>
                    <a:bodyPr/>
                    <a:lstStyle/>
                    <a:p>
                      <a:pPr>
                        <a:defRPr sz="1100" b="0">
                          <a:solidFill>
                            <a:srgbClr val="1E293B"/>
                          </a:solidFill>
                        </a:defRPr>
                      </a:pPr>
                      <a:r>
                        <a:t>Program enrollments</a:t>
                      </a:r>
                    </a:p>
                  </a:txBody>
                  <a:tcPr anchor="ctr">
                    <a:solidFill>
                      <a:srgbClr val="F1F5F9"/>
                    </a:solidFill>
                  </a:tcPr>
                </a:tc>
              </a:tr>
            </a:tbl>
          </a:graphicData>
        </a:graphic>
      </p:graphicFrame>
      <p:graphicFrame>
        <p:nvGraphicFramePr>
          <p:cNvPr id="14" name="Table 13"/>
          <p:cNvGraphicFramePr>
            <a:graphicFrameLocks noGrp="1"/>
          </p:cNvGraphicFramePr>
          <p:nvPr/>
        </p:nvGraphicFramePr>
        <p:xfrm>
          <a:off x="5943600" y="3840480"/>
          <a:ext cx="5486400" cy="1975104"/>
        </p:xfrm>
        <a:graphic>
          <a:graphicData uri="http://schemas.openxmlformats.org/drawingml/2006/table">
            <a:tbl>
              <a:tblPr firstRow="1" bandRow="1">
                <a:tableStyleId>{5C22544A-7EE6-4342-B048-85BDC9FD1C3A}</a:tableStyleId>
              </a:tblPr>
              <a:tblGrid>
                <a:gridCol w="731520"/>
                <a:gridCol w="1097280"/>
                <a:gridCol w="3657600"/>
              </a:tblGrid>
              <a:tr h="329184">
                <a:tc>
                  <a:txBody>
                    <a:bodyPr/>
                    <a:lstStyle/>
                    <a:p>
                      <a:pPr>
                        <a:defRPr sz="1200" b="1">
                          <a:solidFill>
                            <a:srgbClr val="FFFFFF"/>
                          </a:solidFill>
                        </a:defRPr>
                      </a:pPr>
                      <a:r>
                        <a:t>Level</a:t>
                      </a:r>
                    </a:p>
                  </a:txBody>
                  <a:tcPr anchor="ctr">
                    <a:solidFill>
                      <a:srgbClr val="2563EB"/>
                    </a:solidFill>
                  </a:tcPr>
                </a:tc>
                <a:tc>
                  <a:txBody>
                    <a:bodyPr/>
                    <a:lstStyle/>
                    <a:p>
                      <a:pPr>
                        <a:defRPr sz="1200" b="1">
                          <a:solidFill>
                            <a:srgbClr val="FFFFFF"/>
                          </a:solidFill>
                        </a:defRPr>
                      </a:pPr>
                      <a:r>
                        <a:t>Label</a:t>
                      </a:r>
                    </a:p>
                  </a:txBody>
                  <a:tcPr anchor="ctr">
                    <a:solidFill>
                      <a:srgbClr val="2563EB"/>
                    </a:solidFill>
                  </a:tcPr>
                </a:tc>
                <a:tc>
                  <a:txBody>
                    <a:bodyPr/>
                    <a:lstStyle/>
                    <a:p>
                      <a:pPr>
                        <a:defRPr sz="1200" b="1">
                          <a:solidFill>
                            <a:srgbClr val="FFFFFF"/>
                          </a:solidFill>
                        </a:defRPr>
                      </a:pPr>
                      <a:r>
                        <a:t>Meaning</a:t>
                      </a:r>
                    </a:p>
                  </a:txBody>
                  <a:tcPr anchor="ctr">
                    <a:solidFill>
                      <a:srgbClr val="2563EB"/>
                    </a:solidFill>
                  </a:tcPr>
                </a:tc>
              </a:tr>
              <a:tr h="329184">
                <a:tc>
                  <a:txBody>
                    <a:bodyPr/>
                    <a:lstStyle/>
                    <a:p>
                      <a:pPr>
                        <a:defRPr sz="1100" b="0">
                          <a:solidFill>
                            <a:srgbClr val="1E293B"/>
                          </a:solidFill>
                        </a:defRPr>
                      </a:pPr>
                      <a:r>
                        <a:t>0</a:t>
                      </a:r>
                    </a:p>
                  </a:txBody>
                  <a:tcPr anchor="ctr"/>
                </a:tc>
                <a:tc>
                  <a:txBody>
                    <a:bodyPr/>
                    <a:lstStyle/>
                    <a:p>
                      <a:pPr>
                        <a:defRPr sz="1100" b="1">
                          <a:solidFill>
                            <a:srgbClr val="64748B"/>
                          </a:solidFill>
                        </a:defRPr>
                      </a:pPr>
                      <a:r>
                        <a:t>None</a:t>
                      </a:r>
                    </a:p>
                  </a:txBody>
                  <a:tcPr anchor="ctr"/>
                </a:tc>
                <a:tc>
                  <a:txBody>
                    <a:bodyPr/>
                    <a:lstStyle/>
                    <a:p>
                      <a:pPr>
                        <a:defRPr sz="1100" b="0">
                          <a:solidFill>
                            <a:srgbClr val="1E293B"/>
                          </a:solidFill>
                        </a:defRPr>
                      </a:pPr>
                      <a:r>
                        <a:t>Learner is on track, no risk indicators</a:t>
                      </a:r>
                    </a:p>
                  </a:txBody>
                  <a:tcPr anchor="ctr"/>
                </a:tc>
              </a:tr>
              <a:tr h="329184">
                <a:tc>
                  <a:txBody>
                    <a:bodyPr/>
                    <a:lstStyle/>
                    <a:p>
                      <a:pPr>
                        <a:defRPr sz="1100" b="0">
                          <a:solidFill>
                            <a:srgbClr val="1E293B"/>
                          </a:solidFill>
                        </a:defRPr>
                      </a:pPr>
                      <a:r>
                        <a:t>1</a:t>
                      </a:r>
                    </a:p>
                  </a:txBody>
                  <a:tcPr anchor="ctr">
                    <a:solidFill>
                      <a:srgbClr val="F1F5F9"/>
                    </a:solidFill>
                  </a:tcPr>
                </a:tc>
                <a:tc>
                  <a:txBody>
                    <a:bodyPr/>
                    <a:lstStyle/>
                    <a:p>
                      <a:pPr>
                        <a:defRPr sz="1100" b="1">
                          <a:solidFill>
                            <a:srgbClr val="16A34A"/>
                          </a:solidFill>
                        </a:defRPr>
                      </a:pPr>
                      <a:r>
                        <a:t>Low</a:t>
                      </a:r>
                    </a:p>
                  </a:txBody>
                  <a:tcPr anchor="ctr">
                    <a:solidFill>
                      <a:srgbClr val="F1F5F9"/>
                    </a:solidFill>
                  </a:tcPr>
                </a:tc>
                <a:tc>
                  <a:txBody>
                    <a:bodyPr/>
                    <a:lstStyle/>
                    <a:p>
                      <a:pPr>
                        <a:defRPr sz="1100" b="0">
                          <a:solidFill>
                            <a:srgbClr val="1E293B"/>
                          </a:solidFill>
                        </a:defRPr>
                      </a:pPr>
                      <a:r>
                        <a:t>Minor gaps, self-correction likely</a:t>
                      </a:r>
                    </a:p>
                  </a:txBody>
                  <a:tcPr anchor="ctr">
                    <a:solidFill>
                      <a:srgbClr val="F1F5F9"/>
                    </a:solidFill>
                  </a:tcPr>
                </a:tc>
              </a:tr>
              <a:tr h="329184">
                <a:tc>
                  <a:txBody>
                    <a:bodyPr/>
                    <a:lstStyle/>
                    <a:p>
                      <a:pPr>
                        <a:defRPr sz="1100" b="0">
                          <a:solidFill>
                            <a:srgbClr val="1E293B"/>
                          </a:solidFill>
                        </a:defRPr>
                      </a:pPr>
                      <a:r>
                        <a:t>2</a:t>
                      </a:r>
                    </a:p>
                  </a:txBody>
                  <a:tcPr anchor="ctr"/>
                </a:tc>
                <a:tc>
                  <a:txBody>
                    <a:bodyPr/>
                    <a:lstStyle/>
                    <a:p>
                      <a:pPr>
                        <a:defRPr sz="1100" b="1">
                          <a:solidFill>
                            <a:srgbClr val="A16207"/>
                          </a:solidFill>
                        </a:defRPr>
                      </a:pPr>
                      <a:r>
                        <a:t>Medium</a:t>
                      </a:r>
                    </a:p>
                  </a:txBody>
                  <a:tcPr anchor="ctr"/>
                </a:tc>
                <a:tc>
                  <a:txBody>
                    <a:bodyPr/>
                    <a:lstStyle/>
                    <a:p>
                      <a:pPr>
                        <a:defRPr sz="1100" b="0">
                          <a:solidFill>
                            <a:srgbClr val="1E293B"/>
                          </a:solidFill>
                        </a:defRPr>
                      </a:pPr>
                      <a:r>
                        <a:t>Performance decline, check-in recommended</a:t>
                      </a:r>
                    </a:p>
                  </a:txBody>
                  <a:tcPr anchor="ctr"/>
                </a:tc>
              </a:tr>
              <a:tr h="329184">
                <a:tc>
                  <a:txBody>
                    <a:bodyPr/>
                    <a:lstStyle/>
                    <a:p>
                      <a:pPr>
                        <a:defRPr sz="1100" b="0">
                          <a:solidFill>
                            <a:srgbClr val="1E293B"/>
                          </a:solidFill>
                        </a:defRPr>
                      </a:pPr>
                      <a:r>
                        <a:t>3</a:t>
                      </a:r>
                    </a:p>
                  </a:txBody>
                  <a:tcPr anchor="ctr">
                    <a:solidFill>
                      <a:srgbClr val="F1F5F9"/>
                    </a:solidFill>
                  </a:tcPr>
                </a:tc>
                <a:tc>
                  <a:txBody>
                    <a:bodyPr/>
                    <a:lstStyle/>
                    <a:p>
                      <a:pPr>
                        <a:defRPr sz="1100" b="1">
                          <a:solidFill>
                            <a:srgbClr val="C2410C"/>
                          </a:solidFill>
                        </a:defRPr>
                      </a:pPr>
                      <a:r>
                        <a:t>High</a:t>
                      </a:r>
                    </a:p>
                  </a:txBody>
                  <a:tcPr anchor="ctr">
                    <a:solidFill>
                      <a:srgbClr val="F1F5F9"/>
                    </a:solidFill>
                  </a:tcPr>
                </a:tc>
                <a:tc>
                  <a:txBody>
                    <a:bodyPr/>
                    <a:lstStyle/>
                    <a:p>
                      <a:pPr>
                        <a:defRPr sz="1100" b="0">
                          <a:solidFill>
                            <a:srgbClr val="1E293B"/>
                          </a:solidFill>
                        </a:defRPr>
                      </a:pPr>
                      <a:r>
                        <a:t>Significant risk, formal intervention required</a:t>
                      </a:r>
                    </a:p>
                  </a:txBody>
                  <a:tcPr anchor="ctr">
                    <a:solidFill>
                      <a:srgbClr val="F1F5F9"/>
                    </a:solidFill>
                  </a:tcPr>
                </a:tc>
              </a:tr>
              <a:tr h="329184">
                <a:tc>
                  <a:txBody>
                    <a:bodyPr/>
                    <a:lstStyle/>
                    <a:p>
                      <a:pPr>
                        <a:defRPr sz="1100" b="0">
                          <a:solidFill>
                            <a:srgbClr val="1E293B"/>
                          </a:solidFill>
                        </a:defRPr>
                      </a:pPr>
                      <a:r>
                        <a:t>4</a:t>
                      </a:r>
                    </a:p>
                  </a:txBody>
                  <a:tcPr anchor="ctr"/>
                </a:tc>
                <a:tc>
                  <a:txBody>
                    <a:bodyPr/>
                    <a:lstStyle/>
                    <a:p>
                      <a:pPr>
                        <a:defRPr sz="1100" b="1">
                          <a:solidFill>
                            <a:srgbClr val="DC2626"/>
                          </a:solidFill>
                        </a:defRPr>
                      </a:pPr>
                      <a:r>
                        <a:t>Critical</a:t>
                      </a:r>
                    </a:p>
                  </a:txBody>
                  <a:tcPr anchor="ctr"/>
                </a:tc>
                <a:tc>
                  <a:txBody>
                    <a:bodyPr/>
                    <a:lstStyle/>
                    <a:p>
                      <a:pPr>
                        <a:defRPr sz="1100" b="0">
                          <a:solidFill>
                            <a:srgbClr val="1E293B"/>
                          </a:solidFill>
                        </a:defRPr>
                      </a:pPr>
                      <a:r>
                        <a:t>Imminent failure, immediate escalation needed</a:t>
                      </a:r>
                    </a:p>
                  </a:txBody>
                  <a:tcPr anchor="ct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AI Module – Improvement Roadmap</a:t>
            </a:r>
          </a:p>
        </p:txBody>
      </p:sp>
      <p:sp>
        <p:nvSpPr>
          <p:cNvPr id="3" name="Rounded Rectangle 2"/>
          <p:cNvSpPr/>
          <p:nvPr/>
        </p:nvSpPr>
        <p:spPr>
          <a:xfrm>
            <a:off x="365760" y="1097280"/>
            <a:ext cx="55778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097280"/>
            <a:ext cx="73152" cy="20116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70432"/>
            <a:ext cx="5303520" cy="320040"/>
          </a:xfrm>
          <a:prstGeom prst="rect">
            <a:avLst/>
          </a:prstGeom>
          <a:noFill/>
        </p:spPr>
        <p:txBody>
          <a:bodyPr wrap="square">
            <a:spAutoFit/>
          </a:bodyPr>
          <a:lstStyle/>
          <a:p>
            <a:pPr algn="l">
              <a:defRPr sz="1300" b="1">
                <a:solidFill>
                  <a:srgbClr val="2563EB"/>
                </a:solidFill>
              </a:defRPr>
            </a:pPr>
            <a:r>
              <a:t>Short-Term Enhancements</a:t>
            </a:r>
          </a:p>
        </p:txBody>
      </p:sp>
      <p:sp>
        <p:nvSpPr>
          <p:cNvPr id="6" name="TextBox 5"/>
          <p:cNvSpPr txBox="1"/>
          <p:nvPr/>
        </p:nvSpPr>
        <p:spPr>
          <a:xfrm>
            <a:off x="548640" y="1463040"/>
            <a:ext cx="5303520" cy="1554480"/>
          </a:xfrm>
          <a:prstGeom prst="rect">
            <a:avLst/>
          </a:prstGeom>
          <a:noFill/>
        </p:spPr>
        <p:txBody>
          <a:bodyPr wrap="square">
            <a:spAutoFit/>
          </a:bodyPr>
          <a:lstStyle/>
          <a:p>
            <a:pPr algn="l">
              <a:defRPr sz="1200" b="0">
                <a:solidFill>
                  <a:srgbClr val="1E293B"/>
                </a:solidFill>
              </a:defRPr>
            </a:pPr>
            <a:r>
              <a:t>• Upgrade to Random Forest / XGBoost for better accuracy</a:t>
            </a:r>
            <a:br/>
            <a:r>
              <a:t>• Add SHAP values for per-learner explainability</a:t>
            </a:r>
            <a:br/>
            <a:r>
              <a:t>• Persist model to disk with joblib</a:t>
            </a:r>
            <a:br/>
            <a:r>
              <a:t>• Add cross-validation for model selection</a:t>
            </a:r>
          </a:p>
        </p:txBody>
      </p:sp>
      <p:sp>
        <p:nvSpPr>
          <p:cNvPr id="7" name="Rounded Rectangle 6"/>
          <p:cNvSpPr/>
          <p:nvPr/>
        </p:nvSpPr>
        <p:spPr>
          <a:xfrm>
            <a:off x="6217920" y="1097280"/>
            <a:ext cx="55778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097280"/>
            <a:ext cx="73152" cy="2011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70432"/>
            <a:ext cx="5303520" cy="320040"/>
          </a:xfrm>
          <a:prstGeom prst="rect">
            <a:avLst/>
          </a:prstGeom>
          <a:noFill/>
        </p:spPr>
        <p:txBody>
          <a:bodyPr wrap="square">
            <a:spAutoFit/>
          </a:bodyPr>
          <a:lstStyle/>
          <a:p>
            <a:pPr algn="l">
              <a:defRPr sz="1300" b="1">
                <a:solidFill>
                  <a:srgbClr val="7C3AED"/>
                </a:solidFill>
              </a:defRPr>
            </a:pPr>
            <a:r>
              <a:t>Long-Term Enhancements</a:t>
            </a:r>
          </a:p>
        </p:txBody>
      </p:sp>
      <p:sp>
        <p:nvSpPr>
          <p:cNvPr id="10" name="TextBox 9"/>
          <p:cNvSpPr txBox="1"/>
          <p:nvPr/>
        </p:nvSpPr>
        <p:spPr>
          <a:xfrm>
            <a:off x="6400800" y="1463040"/>
            <a:ext cx="5303520" cy="1554480"/>
          </a:xfrm>
          <a:prstGeom prst="rect">
            <a:avLst/>
          </a:prstGeom>
          <a:noFill/>
        </p:spPr>
        <p:txBody>
          <a:bodyPr wrap="square">
            <a:spAutoFit/>
          </a:bodyPr>
          <a:lstStyle/>
          <a:p>
            <a:pPr algn="l">
              <a:defRPr sz="1200" b="0">
                <a:solidFill>
                  <a:srgbClr val="1E293B"/>
                </a:solidFill>
              </a:defRPr>
            </a:pPr>
            <a:r>
              <a:t>• Temporal features — score trends, attendance streaks</a:t>
            </a:r>
            <a:br/>
            <a:r>
              <a:t>• Online learning — incremental retraining</a:t>
            </a:r>
            <a:br/>
            <a:r>
              <a:t>• K-Means clustering — cohort-level interventions</a:t>
            </a:r>
            <a:br/>
            <a:r>
              <a:t>• NLP on notes — sentiment from trainer feedback</a:t>
            </a:r>
            <a:br/>
            <a:r>
              <a:t>• Anomaly detection — sudden performance drops</a:t>
            </a:r>
          </a:p>
        </p:txBody>
      </p:sp>
      <p:sp>
        <p:nvSpPr>
          <p:cNvPr id="11" name="TextBox 10"/>
          <p:cNvSpPr txBox="1"/>
          <p:nvPr/>
        </p:nvSpPr>
        <p:spPr>
          <a:xfrm>
            <a:off x="457200" y="3383280"/>
            <a:ext cx="10972800" cy="365760"/>
          </a:xfrm>
          <a:prstGeom prst="rect">
            <a:avLst/>
          </a:prstGeom>
          <a:noFill/>
        </p:spPr>
        <p:txBody>
          <a:bodyPr wrap="square">
            <a:spAutoFit/>
          </a:bodyPr>
          <a:lstStyle/>
          <a:p>
            <a:pPr algn="l">
              <a:defRPr sz="1600" b="1">
                <a:solidFill>
                  <a:srgbClr val="2563EB"/>
                </a:solidFill>
              </a:defRPr>
            </a:pPr>
            <a:r>
              <a:t>Data Ingestion → Risk Re-Assessment Flow</a:t>
            </a:r>
          </a:p>
        </p:txBody>
      </p:sp>
      <p:sp>
        <p:nvSpPr>
          <p:cNvPr id="12" name="Rounded Rectangle 11"/>
          <p:cNvSpPr/>
          <p:nvPr/>
        </p:nvSpPr>
        <p:spPr>
          <a:xfrm>
            <a:off x="457200" y="3840480"/>
            <a:ext cx="1124712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31920"/>
            <a:ext cx="10698480" cy="2560320"/>
          </a:xfrm>
          <a:prstGeom prst="rect">
            <a:avLst/>
          </a:prstGeom>
          <a:noFill/>
        </p:spPr>
        <p:txBody>
          <a:bodyPr wrap="square">
            <a:spAutoFit/>
          </a:bodyPr>
          <a:lstStyle/>
          <a:p>
            <a:pPr algn="l">
              <a:defRPr sz="1200" b="0">
                <a:solidFill>
                  <a:srgbClr val="E2E8F0"/>
                </a:solidFill>
              </a:defRPr>
            </a:pPr>
            <a:r>
              <a:t>POST /api/ingestion/attendance</a:t>
            </a:r>
            <a:br/>
            <a:r>
              <a:t>  │</a:t>
            </a:r>
            <a:br/>
            <a:r>
              <a:t>  ├── Validate employee + program + session</a:t>
            </a:r>
            <a:br/>
            <a:r>
              <a:t>  ├── Create AttendanceRecord</a:t>
            </a:r>
            <a:br/>
            <a:r>
              <a:t>  ├── Trigger assess_learner_risk(employee)</a:t>
            </a:r>
            <a:br/>
            <a:r>
              <a:t>  │     ├── Compute features (attendance%, scores, milestones)</a:t>
            </a:r>
            <a:br/>
            <a:r>
              <a:t>  │     ├── Rule engine → weighted risk score</a:t>
            </a:r>
            <a:br/>
            <a:r>
              <a:t>  │     ├── ML model → predicted level + confidence</a:t>
            </a:r>
            <a:br/>
            <a:r>
              <a:t>  │     └── Store RiskAssessment (blended result)</a:t>
            </a:r>
            <a:br/>
            <a:r>
              <a:t>  ├── Write AuditLog</a:t>
            </a:r>
            <a:br/>
            <a:r>
              <a:t>  └── Return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Data Model &amp; Ingestion Pattern</a:t>
            </a:r>
          </a:p>
        </p:txBody>
      </p:sp>
      <p:sp>
        <p:nvSpPr>
          <p:cNvPr id="3" name="TextBox 2"/>
          <p:cNvSpPr txBox="1"/>
          <p:nvPr/>
        </p:nvSpPr>
        <p:spPr>
          <a:xfrm>
            <a:off x="457200" y="1005840"/>
            <a:ext cx="5486400" cy="320040"/>
          </a:xfrm>
          <a:prstGeom prst="rect">
            <a:avLst/>
          </a:prstGeom>
          <a:noFill/>
        </p:spPr>
        <p:txBody>
          <a:bodyPr wrap="square">
            <a:spAutoFit/>
          </a:bodyPr>
          <a:lstStyle/>
          <a:p>
            <a:pPr algn="l">
              <a:defRPr sz="1600" b="1">
                <a:solidFill>
                  <a:srgbClr val="2563EB"/>
                </a:solidFill>
              </a:defRPr>
            </a:pPr>
            <a:r>
              <a:t>Core Entities (14 tables)</a:t>
            </a:r>
          </a:p>
        </p:txBody>
      </p:sp>
      <p:sp>
        <p:nvSpPr>
          <p:cNvPr id="4" name="Rounded Rectangle 3"/>
          <p:cNvSpPr/>
          <p:nvPr/>
        </p:nvSpPr>
        <p:spPr>
          <a:xfrm>
            <a:off x="365760" y="137160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7315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2423160" cy="320040"/>
          </a:xfrm>
          <a:prstGeom prst="rect">
            <a:avLst/>
          </a:prstGeom>
          <a:noFill/>
        </p:spPr>
        <p:txBody>
          <a:bodyPr wrap="square">
            <a:spAutoFit/>
          </a:bodyPr>
          <a:lstStyle/>
          <a:p>
            <a:pPr algn="l">
              <a:defRPr sz="1100" b="1">
                <a:solidFill>
                  <a:srgbClr val="2563EB"/>
                </a:solidFill>
              </a:defRPr>
            </a:pPr>
            <a:r>
              <a:t>Users &amp; RBAC</a:t>
            </a:r>
          </a:p>
        </p:txBody>
      </p:sp>
      <p:sp>
        <p:nvSpPr>
          <p:cNvPr id="7" name="TextBox 6"/>
          <p:cNvSpPr txBox="1"/>
          <p:nvPr/>
        </p:nvSpPr>
        <p:spPr>
          <a:xfrm>
            <a:off x="548640" y="1737360"/>
            <a:ext cx="2423160" cy="365760"/>
          </a:xfrm>
          <a:prstGeom prst="rect">
            <a:avLst/>
          </a:prstGeom>
          <a:noFill/>
        </p:spPr>
        <p:txBody>
          <a:bodyPr wrap="square">
            <a:spAutoFit/>
          </a:bodyPr>
          <a:lstStyle/>
          <a:p>
            <a:pPr algn="l">
              <a:defRPr sz="1000" b="0">
                <a:solidFill>
                  <a:srgbClr val="1E293B"/>
                </a:solidFill>
              </a:defRPr>
            </a:pPr>
            <a:r>
              <a:t>• User (id, username, role, employee_id)</a:t>
            </a:r>
          </a:p>
        </p:txBody>
      </p:sp>
      <p:sp>
        <p:nvSpPr>
          <p:cNvPr id="8" name="Rounded Rectangle 7"/>
          <p:cNvSpPr/>
          <p:nvPr/>
        </p:nvSpPr>
        <p:spPr>
          <a:xfrm>
            <a:off x="3200400" y="137160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1371600"/>
            <a:ext cx="7315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444752"/>
            <a:ext cx="2423160" cy="320040"/>
          </a:xfrm>
          <a:prstGeom prst="rect">
            <a:avLst/>
          </a:prstGeom>
          <a:noFill/>
        </p:spPr>
        <p:txBody>
          <a:bodyPr wrap="square">
            <a:spAutoFit/>
          </a:bodyPr>
          <a:lstStyle/>
          <a:p>
            <a:pPr algn="l">
              <a:defRPr sz="1100" b="1">
                <a:solidFill>
                  <a:srgbClr val="2563EB"/>
                </a:solidFill>
              </a:defRPr>
            </a:pPr>
            <a:r>
              <a:t>Employees</a:t>
            </a:r>
          </a:p>
        </p:txBody>
      </p:sp>
      <p:sp>
        <p:nvSpPr>
          <p:cNvPr id="11" name="TextBox 10"/>
          <p:cNvSpPr txBox="1"/>
          <p:nvPr/>
        </p:nvSpPr>
        <p:spPr>
          <a:xfrm>
            <a:off x="3383280" y="1737360"/>
            <a:ext cx="2423160" cy="365760"/>
          </a:xfrm>
          <a:prstGeom prst="rect">
            <a:avLst/>
          </a:prstGeom>
          <a:noFill/>
        </p:spPr>
        <p:txBody>
          <a:bodyPr wrap="square">
            <a:spAutoFit/>
          </a:bodyPr>
          <a:lstStyle/>
          <a:p>
            <a:pPr algn="l">
              <a:defRPr sz="1000" b="0">
                <a:solidFill>
                  <a:srgbClr val="1E293B"/>
                </a:solidFill>
              </a:defRPr>
            </a:pPr>
            <a:r>
              <a:t>• Employee (id, number, name, dept, manager_id)</a:t>
            </a:r>
          </a:p>
        </p:txBody>
      </p:sp>
      <p:sp>
        <p:nvSpPr>
          <p:cNvPr id="12" name="Rounded Rectangle 11"/>
          <p:cNvSpPr/>
          <p:nvPr/>
        </p:nvSpPr>
        <p:spPr>
          <a:xfrm>
            <a:off x="6035040" y="137160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1371600"/>
            <a:ext cx="7315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444752"/>
            <a:ext cx="2423160" cy="320040"/>
          </a:xfrm>
          <a:prstGeom prst="rect">
            <a:avLst/>
          </a:prstGeom>
          <a:noFill/>
        </p:spPr>
        <p:txBody>
          <a:bodyPr wrap="square">
            <a:spAutoFit/>
          </a:bodyPr>
          <a:lstStyle/>
          <a:p>
            <a:pPr algn="l">
              <a:defRPr sz="1100" b="1">
                <a:solidFill>
                  <a:srgbClr val="2563EB"/>
                </a:solidFill>
              </a:defRPr>
            </a:pPr>
            <a:r>
              <a:t>Programs</a:t>
            </a:r>
          </a:p>
        </p:txBody>
      </p:sp>
      <p:sp>
        <p:nvSpPr>
          <p:cNvPr id="15" name="TextBox 14"/>
          <p:cNvSpPr txBox="1"/>
          <p:nvPr/>
        </p:nvSpPr>
        <p:spPr>
          <a:xfrm>
            <a:off x="6217920" y="1737360"/>
            <a:ext cx="2423160" cy="365760"/>
          </a:xfrm>
          <a:prstGeom prst="rect">
            <a:avLst/>
          </a:prstGeom>
          <a:noFill/>
        </p:spPr>
        <p:txBody>
          <a:bodyPr wrap="square">
            <a:spAutoFit/>
          </a:bodyPr>
          <a:lstStyle/>
          <a:p>
            <a:pPr algn="l">
              <a:defRPr sz="1000" b="0">
                <a:solidFill>
                  <a:srgbClr val="1E293B"/>
                </a:solidFill>
              </a:defRPr>
            </a:pPr>
            <a:r>
              <a:t>• LearningProgram, ProgramSession, Competency</a:t>
            </a:r>
          </a:p>
        </p:txBody>
      </p:sp>
      <p:sp>
        <p:nvSpPr>
          <p:cNvPr id="16" name="Rounded Rectangle 15"/>
          <p:cNvSpPr/>
          <p:nvPr/>
        </p:nvSpPr>
        <p:spPr>
          <a:xfrm>
            <a:off x="8869680" y="137160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1371600"/>
            <a:ext cx="7315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444752"/>
            <a:ext cx="2423160" cy="320040"/>
          </a:xfrm>
          <a:prstGeom prst="rect">
            <a:avLst/>
          </a:prstGeom>
          <a:noFill/>
        </p:spPr>
        <p:txBody>
          <a:bodyPr wrap="square">
            <a:spAutoFit/>
          </a:bodyPr>
          <a:lstStyle/>
          <a:p>
            <a:pPr algn="l">
              <a:defRPr sz="1100" b="1">
                <a:solidFill>
                  <a:srgbClr val="2563EB"/>
                </a:solidFill>
              </a:defRPr>
            </a:pPr>
            <a:r>
              <a:t>Records</a:t>
            </a:r>
          </a:p>
        </p:txBody>
      </p:sp>
      <p:sp>
        <p:nvSpPr>
          <p:cNvPr id="19" name="TextBox 18"/>
          <p:cNvSpPr txBox="1"/>
          <p:nvPr/>
        </p:nvSpPr>
        <p:spPr>
          <a:xfrm>
            <a:off x="9052560" y="1737360"/>
            <a:ext cx="2423160" cy="365760"/>
          </a:xfrm>
          <a:prstGeom prst="rect">
            <a:avLst/>
          </a:prstGeom>
          <a:noFill/>
        </p:spPr>
        <p:txBody>
          <a:bodyPr wrap="square">
            <a:spAutoFit/>
          </a:bodyPr>
          <a:lstStyle/>
          <a:p>
            <a:pPr algn="l">
              <a:defRPr sz="1000" b="0">
                <a:solidFill>
                  <a:srgbClr val="1E293B"/>
                </a:solidFill>
              </a:defRPr>
            </a:pPr>
            <a:r>
              <a:t>• Enrollment, AttendanceRecord, AssessmentResult</a:t>
            </a:r>
          </a:p>
        </p:txBody>
      </p:sp>
      <p:sp>
        <p:nvSpPr>
          <p:cNvPr id="20" name="Rounded Rectangle 19"/>
          <p:cNvSpPr/>
          <p:nvPr/>
        </p:nvSpPr>
        <p:spPr>
          <a:xfrm>
            <a:off x="365760" y="233172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331720"/>
            <a:ext cx="73152" cy="822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404872"/>
            <a:ext cx="2423160" cy="320040"/>
          </a:xfrm>
          <a:prstGeom prst="rect">
            <a:avLst/>
          </a:prstGeom>
          <a:noFill/>
        </p:spPr>
        <p:txBody>
          <a:bodyPr wrap="square">
            <a:spAutoFit/>
          </a:bodyPr>
          <a:lstStyle/>
          <a:p>
            <a:pPr algn="l">
              <a:defRPr sz="1100" b="1">
                <a:solidFill>
                  <a:srgbClr val="7C3AED"/>
                </a:solidFill>
              </a:defRPr>
            </a:pPr>
            <a:r>
              <a:t>Competency</a:t>
            </a:r>
          </a:p>
        </p:txBody>
      </p:sp>
      <p:sp>
        <p:nvSpPr>
          <p:cNvPr id="23" name="TextBox 22"/>
          <p:cNvSpPr txBox="1"/>
          <p:nvPr/>
        </p:nvSpPr>
        <p:spPr>
          <a:xfrm>
            <a:off x="548640" y="2697480"/>
            <a:ext cx="2423160" cy="365760"/>
          </a:xfrm>
          <a:prstGeom prst="rect">
            <a:avLst/>
          </a:prstGeom>
          <a:noFill/>
        </p:spPr>
        <p:txBody>
          <a:bodyPr wrap="square">
            <a:spAutoFit/>
          </a:bodyPr>
          <a:lstStyle/>
          <a:p>
            <a:pPr algn="l">
              <a:defRPr sz="1000" b="0">
                <a:solidFill>
                  <a:srgbClr val="1E293B"/>
                </a:solidFill>
              </a:defRPr>
            </a:pPr>
            <a:r>
              <a:t>• CompetencyMilestone (status, due_date)</a:t>
            </a:r>
          </a:p>
        </p:txBody>
      </p:sp>
      <p:sp>
        <p:nvSpPr>
          <p:cNvPr id="24" name="Rounded Rectangle 23"/>
          <p:cNvSpPr/>
          <p:nvPr/>
        </p:nvSpPr>
        <p:spPr>
          <a:xfrm>
            <a:off x="3200400" y="233172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0" y="2331720"/>
            <a:ext cx="73152"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80" y="2404872"/>
            <a:ext cx="2423160" cy="320040"/>
          </a:xfrm>
          <a:prstGeom prst="rect">
            <a:avLst/>
          </a:prstGeom>
          <a:noFill/>
        </p:spPr>
        <p:txBody>
          <a:bodyPr wrap="square">
            <a:spAutoFit/>
          </a:bodyPr>
          <a:lstStyle/>
          <a:p>
            <a:pPr algn="l">
              <a:defRPr sz="1100" b="1">
                <a:solidFill>
                  <a:srgbClr val="DC2626"/>
                </a:solidFill>
              </a:defRPr>
            </a:pPr>
            <a:r>
              <a:t>Risk</a:t>
            </a:r>
          </a:p>
        </p:txBody>
      </p:sp>
      <p:sp>
        <p:nvSpPr>
          <p:cNvPr id="27" name="TextBox 26"/>
          <p:cNvSpPr txBox="1"/>
          <p:nvPr/>
        </p:nvSpPr>
        <p:spPr>
          <a:xfrm>
            <a:off x="3383280" y="2697480"/>
            <a:ext cx="2423160" cy="365760"/>
          </a:xfrm>
          <a:prstGeom prst="rect">
            <a:avLst/>
          </a:prstGeom>
          <a:noFill/>
        </p:spPr>
        <p:txBody>
          <a:bodyPr wrap="square">
            <a:spAutoFit/>
          </a:bodyPr>
          <a:lstStyle/>
          <a:p>
            <a:pPr algn="l">
              <a:defRPr sz="1000" b="0">
                <a:solidFill>
                  <a:srgbClr val="1E293B"/>
                </a:solidFill>
              </a:defRPr>
            </a:pPr>
            <a:r>
              <a:t>• RiskRule, RiskAssessment (level, score, conf)</a:t>
            </a:r>
          </a:p>
        </p:txBody>
      </p:sp>
      <p:sp>
        <p:nvSpPr>
          <p:cNvPr id="28" name="Rounded Rectangle 27"/>
          <p:cNvSpPr/>
          <p:nvPr/>
        </p:nvSpPr>
        <p:spPr>
          <a:xfrm>
            <a:off x="6035040" y="233172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35040" y="2331720"/>
            <a:ext cx="73152"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404872"/>
            <a:ext cx="2423160" cy="320040"/>
          </a:xfrm>
          <a:prstGeom prst="rect">
            <a:avLst/>
          </a:prstGeom>
          <a:noFill/>
        </p:spPr>
        <p:txBody>
          <a:bodyPr wrap="square">
            <a:spAutoFit/>
          </a:bodyPr>
          <a:lstStyle/>
          <a:p>
            <a:pPr algn="l">
              <a:defRPr sz="1100" b="1">
                <a:solidFill>
                  <a:srgbClr val="16A34A"/>
                </a:solidFill>
              </a:defRPr>
            </a:pPr>
            <a:r>
              <a:t>Interventions</a:t>
            </a:r>
          </a:p>
        </p:txBody>
      </p:sp>
      <p:sp>
        <p:nvSpPr>
          <p:cNvPr id="31" name="TextBox 30"/>
          <p:cNvSpPr txBox="1"/>
          <p:nvPr/>
        </p:nvSpPr>
        <p:spPr>
          <a:xfrm>
            <a:off x="6217920" y="2697480"/>
            <a:ext cx="2423160" cy="365760"/>
          </a:xfrm>
          <a:prstGeom prst="rect">
            <a:avLst/>
          </a:prstGeom>
          <a:noFill/>
        </p:spPr>
        <p:txBody>
          <a:bodyPr wrap="square">
            <a:spAutoFit/>
          </a:bodyPr>
          <a:lstStyle/>
          <a:p>
            <a:pPr algn="l">
              <a:defRPr sz="1000" b="0">
                <a:solidFill>
                  <a:srgbClr val="1E293B"/>
                </a:solidFill>
              </a:defRPr>
            </a:pPr>
            <a:r>
              <a:t>• Intervention (type, owner, status, outcome)</a:t>
            </a:r>
          </a:p>
        </p:txBody>
      </p:sp>
      <p:sp>
        <p:nvSpPr>
          <p:cNvPr id="32" name="Rounded Rectangle 31"/>
          <p:cNvSpPr/>
          <p:nvPr/>
        </p:nvSpPr>
        <p:spPr>
          <a:xfrm>
            <a:off x="8869680" y="2331720"/>
            <a:ext cx="2697480" cy="822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69680" y="2331720"/>
            <a:ext cx="73152"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52560" y="2404872"/>
            <a:ext cx="2423160" cy="320040"/>
          </a:xfrm>
          <a:prstGeom prst="rect">
            <a:avLst/>
          </a:prstGeom>
          <a:noFill/>
        </p:spPr>
        <p:txBody>
          <a:bodyPr wrap="square">
            <a:spAutoFit/>
          </a:bodyPr>
          <a:lstStyle/>
          <a:p>
            <a:pPr algn="l">
              <a:defRPr sz="1100" b="1">
                <a:solidFill>
                  <a:srgbClr val="2563EB"/>
                </a:solidFill>
              </a:defRPr>
            </a:pPr>
            <a:r>
              <a:t>Audit</a:t>
            </a:r>
          </a:p>
        </p:txBody>
      </p:sp>
      <p:sp>
        <p:nvSpPr>
          <p:cNvPr id="35" name="TextBox 34"/>
          <p:cNvSpPr txBox="1"/>
          <p:nvPr/>
        </p:nvSpPr>
        <p:spPr>
          <a:xfrm>
            <a:off x="9052560" y="2697480"/>
            <a:ext cx="2423160" cy="365760"/>
          </a:xfrm>
          <a:prstGeom prst="rect">
            <a:avLst/>
          </a:prstGeom>
          <a:noFill/>
        </p:spPr>
        <p:txBody>
          <a:bodyPr wrap="square">
            <a:spAutoFit/>
          </a:bodyPr>
          <a:lstStyle/>
          <a:p>
            <a:pPr algn="l">
              <a:defRPr sz="1000" b="0">
                <a:solidFill>
                  <a:srgbClr val="1E293B"/>
                </a:solidFill>
              </a:defRPr>
            </a:pPr>
            <a:r>
              <a:t>• AuditLog, DataIngestionBatch</a:t>
            </a:r>
          </a:p>
        </p:txBody>
      </p:sp>
      <p:sp>
        <p:nvSpPr>
          <p:cNvPr id="36" name="TextBox 35"/>
          <p:cNvSpPr txBox="1"/>
          <p:nvPr/>
        </p:nvSpPr>
        <p:spPr>
          <a:xfrm>
            <a:off x="457200" y="3474720"/>
            <a:ext cx="5486400" cy="320040"/>
          </a:xfrm>
          <a:prstGeom prst="rect">
            <a:avLst/>
          </a:prstGeom>
          <a:noFill/>
        </p:spPr>
        <p:txBody>
          <a:bodyPr wrap="square">
            <a:spAutoFit/>
          </a:bodyPr>
          <a:lstStyle/>
          <a:p>
            <a:pPr algn="l">
              <a:defRPr sz="1600" b="1">
                <a:solidFill>
                  <a:srgbClr val="2563EB"/>
                </a:solidFill>
              </a:defRPr>
            </a:pPr>
            <a:r>
              <a:t>Ingestion Endpoints</a:t>
            </a:r>
          </a:p>
        </p:txBody>
      </p:sp>
      <p:graphicFrame>
        <p:nvGraphicFramePr>
          <p:cNvPr id="37" name="Table 36"/>
          <p:cNvGraphicFramePr>
            <a:graphicFrameLocks noGrp="1"/>
          </p:cNvGraphicFramePr>
          <p:nvPr/>
        </p:nvGraphicFramePr>
        <p:xfrm>
          <a:off x="365760" y="3931920"/>
          <a:ext cx="11247120" cy="1316736"/>
        </p:xfrm>
        <a:graphic>
          <a:graphicData uri="http://schemas.openxmlformats.org/drawingml/2006/table">
            <a:tbl>
              <a:tblPr firstRow="1" bandRow="1">
                <a:tableStyleId>{5C22544A-7EE6-4342-B048-85BDC9FD1C3A}</a:tableStyleId>
              </a:tblPr>
              <a:tblGrid>
                <a:gridCol w="3657600"/>
                <a:gridCol w="4114800"/>
                <a:gridCol w="3474720"/>
              </a:tblGrid>
              <a:tr h="329184">
                <a:tc>
                  <a:txBody>
                    <a:bodyPr/>
                    <a:lstStyle/>
                    <a:p>
                      <a:pPr>
                        <a:defRPr sz="1200" b="1">
                          <a:solidFill>
                            <a:srgbClr val="FFFFFF"/>
                          </a:solidFill>
                        </a:defRPr>
                      </a:pPr>
                      <a:r>
                        <a:t>Endpoint</a:t>
                      </a:r>
                    </a:p>
                  </a:txBody>
                  <a:tcPr anchor="ctr">
                    <a:solidFill>
                      <a:srgbClr val="2563EB"/>
                    </a:solidFill>
                  </a:tcPr>
                </a:tc>
                <a:tc>
                  <a:txBody>
                    <a:bodyPr/>
                    <a:lstStyle/>
                    <a:p>
                      <a:pPr>
                        <a:defRPr sz="1200" b="1">
                          <a:solidFill>
                            <a:srgbClr val="FFFFFF"/>
                          </a:solidFill>
                        </a:defRPr>
                      </a:pPr>
                      <a:r>
                        <a:t>Input</a:t>
                      </a:r>
                    </a:p>
                  </a:txBody>
                  <a:tcPr anchor="ctr">
                    <a:solidFill>
                      <a:srgbClr val="2563EB"/>
                    </a:solidFill>
                  </a:tcPr>
                </a:tc>
                <a:tc>
                  <a:txBody>
                    <a:bodyPr/>
                    <a:lstStyle/>
                    <a:p>
                      <a:pPr>
                        <a:defRPr sz="1200" b="1">
                          <a:solidFill>
                            <a:srgbClr val="FFFFFF"/>
                          </a:solidFill>
                        </a:defRPr>
                      </a:pPr>
                      <a:r>
                        <a:t>Auto-trigger</a:t>
                      </a:r>
                    </a:p>
                  </a:txBody>
                  <a:tcPr anchor="ctr">
                    <a:solidFill>
                      <a:srgbClr val="2563EB"/>
                    </a:solidFill>
                  </a:tcPr>
                </a:tc>
              </a:tr>
              <a:tr h="329184">
                <a:tc>
                  <a:txBody>
                    <a:bodyPr/>
                    <a:lstStyle/>
                    <a:p>
                      <a:pPr>
                        <a:defRPr sz="1100" b="0">
                          <a:solidFill>
                            <a:srgbClr val="1E293B"/>
                          </a:solidFill>
                        </a:defRPr>
                      </a:pPr>
                      <a:r>
                        <a:t>POST /api/ingestion/attendance</a:t>
                      </a:r>
                    </a:p>
                  </a:txBody>
                  <a:tcPr anchor="ctr"/>
                </a:tc>
                <a:tc>
                  <a:txBody>
                    <a:bodyPr/>
                    <a:lstStyle/>
                    <a:p>
                      <a:pPr>
                        <a:defRPr sz="1100" b="0">
                          <a:solidFill>
                            <a:srgbClr val="1E293B"/>
                          </a:solidFill>
                        </a:defRPr>
                      </a:pPr>
                      <a:r>
                        <a:t>employee#, program, session, status</a:t>
                      </a:r>
                    </a:p>
                  </a:txBody>
                  <a:tcPr anchor="ctr"/>
                </a:tc>
                <a:tc>
                  <a:txBody>
                    <a:bodyPr/>
                    <a:lstStyle/>
                    <a:p>
                      <a:pPr>
                        <a:defRPr sz="1100" b="0">
                          <a:solidFill>
                            <a:srgbClr val="1E293B"/>
                          </a:solidFill>
                        </a:defRPr>
                      </a:pPr>
                      <a:r>
                        <a:t>Risk re-assessment</a:t>
                      </a:r>
                    </a:p>
                  </a:txBody>
                  <a:tcPr anchor="ctr"/>
                </a:tc>
              </a:tr>
              <a:tr h="329184">
                <a:tc>
                  <a:txBody>
                    <a:bodyPr/>
                    <a:lstStyle/>
                    <a:p>
                      <a:pPr>
                        <a:defRPr sz="1100" b="0">
                          <a:solidFill>
                            <a:srgbClr val="1E293B"/>
                          </a:solidFill>
                        </a:defRPr>
                      </a:pPr>
                      <a:r>
                        <a:t>POST /api/ingestion/assessment</a:t>
                      </a:r>
                    </a:p>
                  </a:txBody>
                  <a:tcPr anchor="ctr">
                    <a:solidFill>
                      <a:srgbClr val="F1F5F9"/>
                    </a:solidFill>
                  </a:tcPr>
                </a:tc>
                <a:tc>
                  <a:txBody>
                    <a:bodyPr/>
                    <a:lstStyle/>
                    <a:p>
                      <a:pPr>
                        <a:defRPr sz="1100" b="0">
                          <a:solidFill>
                            <a:srgbClr val="1E293B"/>
                          </a:solidFill>
                        </a:defRPr>
                      </a:pPr>
                      <a:r>
                        <a:t>employee#, competency, score, type</a:t>
                      </a:r>
                    </a:p>
                  </a:txBody>
                  <a:tcPr anchor="ctr">
                    <a:solidFill>
                      <a:srgbClr val="F1F5F9"/>
                    </a:solidFill>
                  </a:tcPr>
                </a:tc>
                <a:tc>
                  <a:txBody>
                    <a:bodyPr/>
                    <a:lstStyle/>
                    <a:p>
                      <a:pPr>
                        <a:defRPr sz="1100" b="0">
                          <a:solidFill>
                            <a:srgbClr val="1E293B"/>
                          </a:solidFill>
                        </a:defRPr>
                      </a:pPr>
                      <a:r>
                        <a:t>Risk re-assessment + pass/fail</a:t>
                      </a:r>
                    </a:p>
                  </a:txBody>
                  <a:tcPr anchor="ctr">
                    <a:solidFill>
                      <a:srgbClr val="F1F5F9"/>
                    </a:solidFill>
                  </a:tcPr>
                </a:tc>
              </a:tr>
              <a:tr h="329184">
                <a:tc>
                  <a:txBody>
                    <a:bodyPr/>
                    <a:lstStyle/>
                    <a:p>
                      <a:pPr>
                        <a:defRPr sz="1100" b="0">
                          <a:solidFill>
                            <a:srgbClr val="1E293B"/>
                          </a:solidFill>
                        </a:defRPr>
                      </a:pPr>
                      <a:r>
                        <a:t>POST /api/ingestion/milestone</a:t>
                      </a:r>
                    </a:p>
                  </a:txBody>
                  <a:tcPr anchor="ctr"/>
                </a:tc>
                <a:tc>
                  <a:txBody>
                    <a:bodyPr/>
                    <a:lstStyle/>
                    <a:p>
                      <a:pPr>
                        <a:defRPr sz="1100" b="0">
                          <a:solidFill>
                            <a:srgbClr val="1E293B"/>
                          </a:solidFill>
                        </a:defRPr>
                      </a:pPr>
                      <a:r>
                        <a:t>employee#, competency, status, due_date</a:t>
                      </a:r>
                    </a:p>
                  </a:txBody>
                  <a:tcPr anchor="ctr"/>
                </a:tc>
                <a:tc>
                  <a:txBody>
                    <a:bodyPr/>
                    <a:lstStyle/>
                    <a:p>
                      <a:pPr>
                        <a:defRPr sz="1100" b="0">
                          <a:solidFill>
                            <a:srgbClr val="1E293B"/>
                          </a:solidFill>
                        </a:defRPr>
                      </a:pPr>
                      <a:r>
                        <a:t>Risk re-assessment</a:t>
                      </a:r>
                    </a:p>
                  </a:txBody>
                  <a:tcPr anchor="ct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Workflows &amp; Sequence Diagrams</a:t>
            </a:r>
          </a:p>
        </p:txBody>
      </p:sp>
      <p:sp>
        <p:nvSpPr>
          <p:cNvPr id="3" name="TextBox 2"/>
          <p:cNvSpPr txBox="1"/>
          <p:nvPr/>
        </p:nvSpPr>
        <p:spPr>
          <a:xfrm>
            <a:off x="457200" y="1005840"/>
            <a:ext cx="5486400" cy="320040"/>
          </a:xfrm>
          <a:prstGeom prst="rect">
            <a:avLst/>
          </a:prstGeom>
          <a:noFill/>
        </p:spPr>
        <p:txBody>
          <a:bodyPr wrap="square">
            <a:spAutoFit/>
          </a:bodyPr>
          <a:lstStyle/>
          <a:p>
            <a:pPr algn="l">
              <a:defRPr sz="1600" b="1">
                <a:solidFill>
                  <a:srgbClr val="2563EB"/>
                </a:solidFill>
              </a:defRPr>
            </a:pPr>
            <a:r>
              <a:t>Login Flow</a:t>
            </a:r>
          </a:p>
        </p:txBody>
      </p:sp>
      <p:sp>
        <p:nvSpPr>
          <p:cNvPr id="4" name="Rounded Rectangle 3"/>
          <p:cNvSpPr/>
          <p:nvPr/>
        </p:nvSpPr>
        <p:spPr>
          <a:xfrm>
            <a:off x="457200" y="1417320"/>
            <a:ext cx="5303520" cy="16459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4937760" cy="1463040"/>
          </a:xfrm>
          <a:prstGeom prst="rect">
            <a:avLst/>
          </a:prstGeom>
          <a:noFill/>
        </p:spPr>
        <p:txBody>
          <a:bodyPr wrap="square">
            <a:spAutoFit/>
          </a:bodyPr>
          <a:lstStyle/>
          <a:p>
            <a:pPr algn="l">
              <a:defRPr sz="1200" b="0">
                <a:solidFill>
                  <a:srgbClr val="E2E8F0"/>
                </a:solidFill>
              </a:defRPr>
            </a:pPr>
            <a:r>
              <a:t>User → Frontend → POST /auth/login</a:t>
            </a:r>
            <a:br/>
            <a:r>
              <a:t>                → Backend validates credentials</a:t>
            </a:r>
            <a:br/>
            <a:r>
              <a:t>                → Returns JWT {token, role}</a:t>
            </a:r>
            <a:br/>
            <a:r>
              <a:t>                → Frontend stores token</a:t>
            </a:r>
            <a:br/>
            <a:r>
              <a:t>                → Renders role-specific tabs</a:t>
            </a:r>
          </a:p>
        </p:txBody>
      </p:sp>
      <p:sp>
        <p:nvSpPr>
          <p:cNvPr id="6" name="TextBox 5"/>
          <p:cNvSpPr txBox="1"/>
          <p:nvPr/>
        </p:nvSpPr>
        <p:spPr>
          <a:xfrm>
            <a:off x="457200" y="3291840"/>
            <a:ext cx="5486400" cy="320040"/>
          </a:xfrm>
          <a:prstGeom prst="rect">
            <a:avLst/>
          </a:prstGeom>
          <a:noFill/>
        </p:spPr>
        <p:txBody>
          <a:bodyPr wrap="square">
            <a:spAutoFit/>
          </a:bodyPr>
          <a:lstStyle/>
          <a:p>
            <a:pPr algn="l">
              <a:defRPr sz="1600" b="1">
                <a:solidFill>
                  <a:srgbClr val="2563EB"/>
                </a:solidFill>
              </a:defRPr>
            </a:pPr>
            <a:r>
              <a:t>Intervention Workflow</a:t>
            </a:r>
          </a:p>
        </p:txBody>
      </p:sp>
      <p:sp>
        <p:nvSpPr>
          <p:cNvPr id="7" name="Rounded Rectangle 6"/>
          <p:cNvSpPr/>
          <p:nvPr/>
        </p:nvSpPr>
        <p:spPr>
          <a:xfrm>
            <a:off x="457200" y="3703320"/>
            <a:ext cx="5303520" cy="2011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794760"/>
            <a:ext cx="4937760" cy="1828800"/>
          </a:xfrm>
          <a:prstGeom prst="rect">
            <a:avLst/>
          </a:prstGeom>
          <a:noFill/>
        </p:spPr>
        <p:txBody>
          <a:bodyPr wrap="square">
            <a:spAutoFit/>
          </a:bodyPr>
          <a:lstStyle/>
          <a:p>
            <a:pPr algn="l">
              <a:defRPr sz="1200" b="0">
                <a:solidFill>
                  <a:srgbClr val="E2E8F0"/>
                </a:solidFill>
              </a:defRPr>
            </a:pPr>
            <a:r>
              <a:t>Risk Assessment flags learner</a:t>
            </a:r>
            <a:br/>
            <a:r>
              <a:t>  → Manager/Trainer views at-risk list</a:t>
            </a:r>
            <a:br/>
            <a:r>
              <a:t>  → Creates Intervention (type, description)</a:t>
            </a:r>
            <a:br/>
            <a:r>
              <a:t>  → Assigned to owner</a:t>
            </a:r>
            <a:br/>
            <a:r>
              <a:t>  → Status: Open → InProgress → Completed</a:t>
            </a:r>
            <a:br/>
            <a:r>
              <a:t>  → Outcome recorded</a:t>
            </a:r>
            <a:br/>
            <a:r>
              <a:t>  → Audit trail preserved</a:t>
            </a:r>
          </a:p>
        </p:txBody>
      </p:sp>
      <p:sp>
        <p:nvSpPr>
          <p:cNvPr id="9" name="TextBox 8"/>
          <p:cNvSpPr txBox="1"/>
          <p:nvPr/>
        </p:nvSpPr>
        <p:spPr>
          <a:xfrm>
            <a:off x="6217920" y="1005840"/>
            <a:ext cx="5486400" cy="320040"/>
          </a:xfrm>
          <a:prstGeom prst="rect">
            <a:avLst/>
          </a:prstGeom>
          <a:noFill/>
        </p:spPr>
        <p:txBody>
          <a:bodyPr wrap="square">
            <a:spAutoFit/>
          </a:bodyPr>
          <a:lstStyle/>
          <a:p>
            <a:pPr algn="l">
              <a:defRPr sz="1600" b="1">
                <a:solidFill>
                  <a:srgbClr val="2563EB"/>
                </a:solidFill>
              </a:defRPr>
            </a:pPr>
            <a:r>
              <a:t>Risk Assessment Flow</a:t>
            </a:r>
          </a:p>
        </p:txBody>
      </p:sp>
      <p:sp>
        <p:nvSpPr>
          <p:cNvPr id="10" name="Rounded Rectangle 9"/>
          <p:cNvSpPr/>
          <p:nvPr/>
        </p:nvSpPr>
        <p:spPr>
          <a:xfrm>
            <a:off x="6217920" y="1417320"/>
            <a:ext cx="55778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08760"/>
            <a:ext cx="5212080" cy="4114800"/>
          </a:xfrm>
          <a:prstGeom prst="rect">
            <a:avLst/>
          </a:prstGeom>
          <a:noFill/>
        </p:spPr>
        <p:txBody>
          <a:bodyPr wrap="square">
            <a:spAutoFit/>
          </a:bodyPr>
          <a:lstStyle/>
          <a:p>
            <a:pPr algn="l">
              <a:defRPr sz="1200" b="0">
                <a:solidFill>
                  <a:srgbClr val="E2E8F0"/>
                </a:solidFill>
              </a:defRPr>
            </a:pPr>
            <a:r>
              <a:t>Ingestion event triggers assessment</a:t>
            </a:r>
            <a:br/>
            <a:r>
              <a:t>  → compute_learner_features()</a:t>
            </a:r>
            <a:br/>
            <a:r>
              <a:t>    ├── attendance_pct</a:t>
            </a:r>
            <a:br/>
            <a:r>
              <a:t>    ├── avg_score</a:t>
            </a:r>
            <a:br/>
            <a:r>
              <a:t>    ├── failed_ratio</a:t>
            </a:r>
            <a:br/>
            <a:r>
              <a:t>    ├── completion_ratio</a:t>
            </a:r>
            <a:br/>
            <a:r>
              <a:t>    ├── overdue_ratio</a:t>
            </a:r>
            <a:br/>
            <a:r>
              <a:t>    └── enrollment_count</a:t>
            </a:r>
            <a:br/>
            <a:r>
              <a:t>  → rule_based_risk(features, rules)</a:t>
            </a:r>
            <a:br/>
            <a:r>
              <a:t>  → risk_predictor.predict(features)</a:t>
            </a:r>
            <a:br/>
            <a:r>
              <a:t>  → Blend: ML if confident else rules</a:t>
            </a:r>
            <a:br/>
            <a:r>
              <a:t>  → Store RiskAssessment</a:t>
            </a:r>
            <a:br/>
            <a:r>
              <a:t>  → Write AuditLog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CI/CD Pipeline</a:t>
            </a:r>
          </a:p>
        </p:txBody>
      </p:sp>
      <p:sp>
        <p:nvSpPr>
          <p:cNvPr id="3" name="Rounded Rectangle 2"/>
          <p:cNvSpPr/>
          <p:nvPr/>
        </p:nvSpPr>
        <p:spPr>
          <a:xfrm>
            <a:off x="457200" y="1280160"/>
            <a:ext cx="2377440" cy="914400"/>
          </a:xfrm>
          <a:prstGeom prst="round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17320"/>
            <a:ext cx="2377440" cy="365760"/>
          </a:xfrm>
          <a:prstGeom prst="rect">
            <a:avLst/>
          </a:prstGeom>
          <a:noFill/>
        </p:spPr>
        <p:txBody>
          <a:bodyPr wrap="square">
            <a:spAutoFit/>
          </a:bodyPr>
          <a:lstStyle/>
          <a:p>
            <a:pPr algn="ctr">
              <a:defRPr sz="1400" b="1">
                <a:solidFill>
                  <a:srgbClr val="1E293B"/>
                </a:solidFill>
              </a:defRPr>
            </a:pPr>
            <a:r>
              <a:t>Push / PR</a:t>
            </a:r>
          </a:p>
        </p:txBody>
      </p:sp>
      <p:sp>
        <p:nvSpPr>
          <p:cNvPr id="5" name="TextBox 4"/>
          <p:cNvSpPr txBox="1"/>
          <p:nvPr/>
        </p:nvSpPr>
        <p:spPr>
          <a:xfrm>
            <a:off x="457200" y="1737360"/>
            <a:ext cx="2377440" cy="320040"/>
          </a:xfrm>
          <a:prstGeom prst="rect">
            <a:avLst/>
          </a:prstGeom>
          <a:noFill/>
        </p:spPr>
        <p:txBody>
          <a:bodyPr wrap="square">
            <a:spAutoFit/>
          </a:bodyPr>
          <a:lstStyle/>
          <a:p>
            <a:pPr algn="ctr">
              <a:defRPr sz="1100" b="0">
                <a:solidFill>
                  <a:srgbClr val="64748B"/>
                </a:solidFill>
              </a:defRPr>
            </a:pPr>
            <a:r>
              <a:t>main, develop</a:t>
            </a:r>
          </a:p>
        </p:txBody>
      </p:sp>
      <p:sp>
        <p:nvSpPr>
          <p:cNvPr id="6" name="TextBox 5"/>
          <p:cNvSpPr txBox="1"/>
          <p:nvPr/>
        </p:nvSpPr>
        <p:spPr>
          <a:xfrm>
            <a:off x="2834640" y="1508760"/>
            <a:ext cx="457200" cy="365760"/>
          </a:xfrm>
          <a:prstGeom prst="rect">
            <a:avLst/>
          </a:prstGeom>
          <a:noFill/>
        </p:spPr>
        <p:txBody>
          <a:bodyPr wrap="square">
            <a:spAutoFit/>
          </a:bodyPr>
          <a:lstStyle/>
          <a:p>
            <a:pPr algn="ctr">
              <a:defRPr sz="2400" b="1">
                <a:solidFill>
                  <a:srgbClr val="2563EB"/>
                </a:solidFill>
              </a:defRPr>
            </a:pPr>
            <a:r>
              <a:t>→</a:t>
            </a:r>
          </a:p>
        </p:txBody>
      </p:sp>
      <p:sp>
        <p:nvSpPr>
          <p:cNvPr id="7" name="Rounded Rectangle 6"/>
          <p:cNvSpPr/>
          <p:nvPr/>
        </p:nvSpPr>
        <p:spPr>
          <a:xfrm>
            <a:off x="3291840" y="1280160"/>
            <a:ext cx="2377440" cy="914400"/>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417320"/>
            <a:ext cx="2377440" cy="365760"/>
          </a:xfrm>
          <a:prstGeom prst="rect">
            <a:avLst/>
          </a:prstGeom>
          <a:noFill/>
        </p:spPr>
        <p:txBody>
          <a:bodyPr wrap="square">
            <a:spAutoFit/>
          </a:bodyPr>
          <a:lstStyle/>
          <a:p>
            <a:pPr algn="ctr">
              <a:defRPr sz="1400" b="1">
                <a:solidFill>
                  <a:srgbClr val="1E293B"/>
                </a:solidFill>
              </a:defRPr>
            </a:pPr>
            <a:r>
              <a:t>Backend Test</a:t>
            </a:r>
          </a:p>
        </p:txBody>
      </p:sp>
      <p:sp>
        <p:nvSpPr>
          <p:cNvPr id="9" name="TextBox 8"/>
          <p:cNvSpPr txBox="1"/>
          <p:nvPr/>
        </p:nvSpPr>
        <p:spPr>
          <a:xfrm>
            <a:off x="3291840" y="1737360"/>
            <a:ext cx="2377440" cy="320040"/>
          </a:xfrm>
          <a:prstGeom prst="rect">
            <a:avLst/>
          </a:prstGeom>
          <a:noFill/>
        </p:spPr>
        <p:txBody>
          <a:bodyPr wrap="square">
            <a:spAutoFit/>
          </a:bodyPr>
          <a:lstStyle/>
          <a:p>
            <a:pPr algn="ctr">
              <a:defRPr sz="1100" b="0">
                <a:solidFill>
                  <a:srgbClr val="64748B"/>
                </a:solidFill>
              </a:defRPr>
            </a:pPr>
            <a:r>
              <a:t>Python 3.12, pytest</a:t>
            </a:r>
          </a:p>
        </p:txBody>
      </p:sp>
      <p:sp>
        <p:nvSpPr>
          <p:cNvPr id="10" name="TextBox 9"/>
          <p:cNvSpPr txBox="1"/>
          <p:nvPr/>
        </p:nvSpPr>
        <p:spPr>
          <a:xfrm>
            <a:off x="5669280" y="1508760"/>
            <a:ext cx="457200" cy="365760"/>
          </a:xfrm>
          <a:prstGeom prst="rect">
            <a:avLst/>
          </a:prstGeom>
          <a:noFill/>
        </p:spPr>
        <p:txBody>
          <a:bodyPr wrap="square">
            <a:spAutoFit/>
          </a:bodyPr>
          <a:lstStyle/>
          <a:p>
            <a:pPr algn="ctr">
              <a:defRPr sz="2400" b="1">
                <a:solidFill>
                  <a:srgbClr val="2563EB"/>
                </a:solidFill>
              </a:defRPr>
            </a:pPr>
            <a:r>
              <a:t>→</a:t>
            </a:r>
          </a:p>
        </p:txBody>
      </p:sp>
      <p:sp>
        <p:nvSpPr>
          <p:cNvPr id="11" name="Rounded Rectangle 10"/>
          <p:cNvSpPr/>
          <p:nvPr/>
        </p:nvSpPr>
        <p:spPr>
          <a:xfrm>
            <a:off x="6126480" y="1280160"/>
            <a:ext cx="2377440" cy="914400"/>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417320"/>
            <a:ext cx="2377440" cy="365760"/>
          </a:xfrm>
          <a:prstGeom prst="rect">
            <a:avLst/>
          </a:prstGeom>
          <a:noFill/>
        </p:spPr>
        <p:txBody>
          <a:bodyPr wrap="square">
            <a:spAutoFit/>
          </a:bodyPr>
          <a:lstStyle/>
          <a:p>
            <a:pPr algn="ctr">
              <a:defRPr sz="1400" b="1">
                <a:solidFill>
                  <a:srgbClr val="1E293B"/>
                </a:solidFill>
              </a:defRPr>
            </a:pPr>
            <a:r>
              <a:t>Frontend Build</a:t>
            </a:r>
          </a:p>
        </p:txBody>
      </p:sp>
      <p:sp>
        <p:nvSpPr>
          <p:cNvPr id="13" name="TextBox 12"/>
          <p:cNvSpPr txBox="1"/>
          <p:nvPr/>
        </p:nvSpPr>
        <p:spPr>
          <a:xfrm>
            <a:off x="6126480" y="1737360"/>
            <a:ext cx="2377440" cy="320040"/>
          </a:xfrm>
          <a:prstGeom prst="rect">
            <a:avLst/>
          </a:prstGeom>
          <a:noFill/>
        </p:spPr>
        <p:txBody>
          <a:bodyPr wrap="square">
            <a:spAutoFit/>
          </a:bodyPr>
          <a:lstStyle/>
          <a:p>
            <a:pPr algn="ctr">
              <a:defRPr sz="1100" b="0">
                <a:solidFill>
                  <a:srgbClr val="64748B"/>
                </a:solidFill>
              </a:defRPr>
            </a:pPr>
            <a:r>
              <a:t>Node 20, TS, Vite</a:t>
            </a:r>
          </a:p>
        </p:txBody>
      </p:sp>
      <p:sp>
        <p:nvSpPr>
          <p:cNvPr id="14" name="TextBox 13"/>
          <p:cNvSpPr txBox="1"/>
          <p:nvPr/>
        </p:nvSpPr>
        <p:spPr>
          <a:xfrm>
            <a:off x="8503920" y="1508760"/>
            <a:ext cx="457200" cy="365760"/>
          </a:xfrm>
          <a:prstGeom prst="rect">
            <a:avLst/>
          </a:prstGeom>
          <a:noFill/>
        </p:spPr>
        <p:txBody>
          <a:bodyPr wrap="square">
            <a:spAutoFit/>
          </a:bodyPr>
          <a:lstStyle/>
          <a:p>
            <a:pPr algn="ctr">
              <a:defRPr sz="2400" b="1">
                <a:solidFill>
                  <a:srgbClr val="2563EB"/>
                </a:solidFill>
              </a:defRPr>
            </a:pPr>
            <a:r>
              <a:t>→</a:t>
            </a:r>
          </a:p>
        </p:txBody>
      </p:sp>
      <p:sp>
        <p:nvSpPr>
          <p:cNvPr id="15" name="Rounded Rectangle 14"/>
          <p:cNvSpPr/>
          <p:nvPr/>
        </p:nvSpPr>
        <p:spPr>
          <a:xfrm>
            <a:off x="8961120" y="1280160"/>
            <a:ext cx="2377440" cy="91440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417320"/>
            <a:ext cx="2377440" cy="365760"/>
          </a:xfrm>
          <a:prstGeom prst="rect">
            <a:avLst/>
          </a:prstGeom>
          <a:noFill/>
        </p:spPr>
        <p:txBody>
          <a:bodyPr wrap="square">
            <a:spAutoFit/>
          </a:bodyPr>
          <a:lstStyle/>
          <a:p>
            <a:pPr algn="ctr">
              <a:defRPr sz="1400" b="1">
                <a:solidFill>
                  <a:srgbClr val="1E293B"/>
                </a:solidFill>
              </a:defRPr>
            </a:pPr>
            <a:r>
              <a:t>Docker Build</a:t>
            </a:r>
          </a:p>
        </p:txBody>
      </p:sp>
      <p:sp>
        <p:nvSpPr>
          <p:cNvPr id="17" name="TextBox 16"/>
          <p:cNvSpPr txBox="1"/>
          <p:nvPr/>
        </p:nvSpPr>
        <p:spPr>
          <a:xfrm>
            <a:off x="8961120" y="1737360"/>
            <a:ext cx="2377440" cy="320040"/>
          </a:xfrm>
          <a:prstGeom prst="rect">
            <a:avLst/>
          </a:prstGeom>
          <a:noFill/>
        </p:spPr>
        <p:txBody>
          <a:bodyPr wrap="square">
            <a:spAutoFit/>
          </a:bodyPr>
          <a:lstStyle/>
          <a:p>
            <a:pPr algn="ctr">
              <a:defRPr sz="1100" b="0">
                <a:solidFill>
                  <a:srgbClr val="64748B"/>
                </a:solidFill>
              </a:defRPr>
            </a:pPr>
            <a:r>
              <a:t>main only + health check</a:t>
            </a:r>
          </a:p>
        </p:txBody>
      </p:sp>
      <p:sp>
        <p:nvSpPr>
          <p:cNvPr id="18" name="TextBox 17"/>
          <p:cNvSpPr txBox="1"/>
          <p:nvPr/>
        </p:nvSpPr>
        <p:spPr>
          <a:xfrm>
            <a:off x="457200" y="2560320"/>
            <a:ext cx="4572000" cy="320040"/>
          </a:xfrm>
          <a:prstGeom prst="rect">
            <a:avLst/>
          </a:prstGeom>
          <a:noFill/>
        </p:spPr>
        <p:txBody>
          <a:bodyPr wrap="square">
            <a:spAutoFit/>
          </a:bodyPr>
          <a:lstStyle/>
          <a:p>
            <a:pPr algn="l">
              <a:defRPr sz="1800" b="1">
                <a:solidFill>
                  <a:srgbClr val="2563EB"/>
                </a:solidFill>
              </a:defRPr>
            </a:pPr>
            <a:r>
              <a:t>Test Coverage</a:t>
            </a:r>
          </a:p>
        </p:txBody>
      </p:sp>
      <p:sp>
        <p:nvSpPr>
          <p:cNvPr id="19" name="Rounded Rectangle 18"/>
          <p:cNvSpPr/>
          <p:nvPr/>
        </p:nvSpPr>
        <p:spPr>
          <a:xfrm>
            <a:off x="365760" y="3017520"/>
            <a:ext cx="3657600" cy="32004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017520"/>
            <a:ext cx="73152" cy="3200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090672"/>
            <a:ext cx="3383280" cy="320040"/>
          </a:xfrm>
          <a:prstGeom prst="rect">
            <a:avLst/>
          </a:prstGeom>
          <a:noFill/>
        </p:spPr>
        <p:txBody>
          <a:bodyPr wrap="square">
            <a:spAutoFit/>
          </a:bodyPr>
          <a:lstStyle/>
          <a:p>
            <a:pPr algn="l">
              <a:defRPr sz="1300" b="1">
                <a:solidFill>
                  <a:srgbClr val="16A34A"/>
                </a:solidFill>
              </a:defRPr>
            </a:pPr>
            <a:r>
              <a:t>Positive Tests</a:t>
            </a:r>
          </a:p>
        </p:txBody>
      </p:sp>
      <p:sp>
        <p:nvSpPr>
          <p:cNvPr id="22" name="TextBox 21"/>
          <p:cNvSpPr txBox="1"/>
          <p:nvPr/>
        </p:nvSpPr>
        <p:spPr>
          <a:xfrm>
            <a:off x="548640" y="3383280"/>
            <a:ext cx="3383280" cy="2743200"/>
          </a:xfrm>
          <a:prstGeom prst="rect">
            <a:avLst/>
          </a:prstGeom>
          <a:noFill/>
        </p:spPr>
        <p:txBody>
          <a:bodyPr wrap="square">
            <a:spAutoFit/>
          </a:bodyPr>
          <a:lstStyle/>
          <a:p>
            <a:pPr algn="l">
              <a:defRPr sz="1200" b="0">
                <a:solidFill>
                  <a:srgbClr val="1E293B"/>
                </a:solidFill>
              </a:defRPr>
            </a:pPr>
            <a:r>
              <a:t>• Login all 5 roles</a:t>
            </a:r>
            <a:br/>
            <a:r>
              <a:t>• List learners, profiles</a:t>
            </a:r>
            <a:br/>
            <a:r>
              <a:t>• Dashboard stats</a:t>
            </a:r>
            <a:br/>
            <a:r>
              <a:t>• Risk overview</a:t>
            </a:r>
            <a:br/>
            <a:r>
              <a:t>• Create interventions</a:t>
            </a:r>
            <a:br/>
            <a:r>
              <a:t>• Compliance report</a:t>
            </a:r>
          </a:p>
        </p:txBody>
      </p:sp>
      <p:sp>
        <p:nvSpPr>
          <p:cNvPr id="23" name="Rounded Rectangle 22"/>
          <p:cNvSpPr/>
          <p:nvPr/>
        </p:nvSpPr>
        <p:spPr>
          <a:xfrm>
            <a:off x="4297680" y="3017520"/>
            <a:ext cx="3657600" cy="32004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3017520"/>
            <a:ext cx="73152" cy="3200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3090672"/>
            <a:ext cx="3383280" cy="320040"/>
          </a:xfrm>
          <a:prstGeom prst="rect">
            <a:avLst/>
          </a:prstGeom>
          <a:noFill/>
        </p:spPr>
        <p:txBody>
          <a:bodyPr wrap="square">
            <a:spAutoFit/>
          </a:bodyPr>
          <a:lstStyle/>
          <a:p>
            <a:pPr algn="l">
              <a:defRPr sz="1300" b="1">
                <a:solidFill>
                  <a:srgbClr val="DC2626"/>
                </a:solidFill>
              </a:defRPr>
            </a:pPr>
            <a:r>
              <a:t>Negative Tests</a:t>
            </a:r>
          </a:p>
        </p:txBody>
      </p:sp>
      <p:sp>
        <p:nvSpPr>
          <p:cNvPr id="26" name="TextBox 25"/>
          <p:cNvSpPr txBox="1"/>
          <p:nvPr/>
        </p:nvSpPr>
        <p:spPr>
          <a:xfrm>
            <a:off x="4480560" y="3383280"/>
            <a:ext cx="3383280" cy="2743200"/>
          </a:xfrm>
          <a:prstGeom prst="rect">
            <a:avLst/>
          </a:prstGeom>
          <a:noFill/>
        </p:spPr>
        <p:txBody>
          <a:bodyPr wrap="square">
            <a:spAutoFit/>
          </a:bodyPr>
          <a:lstStyle/>
          <a:p>
            <a:pPr algn="l">
              <a:defRPr sz="1200" b="0">
                <a:solidFill>
                  <a:srgbClr val="1E293B"/>
                </a:solidFill>
              </a:defRPr>
            </a:pPr>
            <a:r>
              <a:t>• Wrong password → 401</a:t>
            </a:r>
            <a:br/>
            <a:r>
              <a:t>• Unknown user → 401</a:t>
            </a:r>
            <a:br/>
            <a:r>
              <a:t>• No token → 401</a:t>
            </a:r>
            <a:br/>
            <a:r>
              <a:t>• Nonexistent employee → 404</a:t>
            </a:r>
            <a:br/>
            <a:r>
              <a:t>• Unknown ingestion target → 404</a:t>
            </a:r>
          </a:p>
        </p:txBody>
      </p:sp>
      <p:sp>
        <p:nvSpPr>
          <p:cNvPr id="27" name="Rounded Rectangle 26"/>
          <p:cNvSpPr/>
          <p:nvPr/>
        </p:nvSpPr>
        <p:spPr>
          <a:xfrm>
            <a:off x="8229600" y="3017520"/>
            <a:ext cx="3657600" cy="32004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3017520"/>
            <a:ext cx="73152" cy="3200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3090672"/>
            <a:ext cx="3383280" cy="320040"/>
          </a:xfrm>
          <a:prstGeom prst="rect">
            <a:avLst/>
          </a:prstGeom>
          <a:noFill/>
        </p:spPr>
        <p:txBody>
          <a:bodyPr wrap="square">
            <a:spAutoFit/>
          </a:bodyPr>
          <a:lstStyle/>
          <a:p>
            <a:pPr algn="l">
              <a:defRPr sz="1300" b="1">
                <a:solidFill>
                  <a:srgbClr val="7C3AED"/>
                </a:solidFill>
              </a:defRPr>
            </a:pPr>
            <a:r>
              <a:t>RBAC Tests</a:t>
            </a:r>
          </a:p>
        </p:txBody>
      </p:sp>
      <p:sp>
        <p:nvSpPr>
          <p:cNvPr id="30" name="TextBox 29"/>
          <p:cNvSpPr txBox="1"/>
          <p:nvPr/>
        </p:nvSpPr>
        <p:spPr>
          <a:xfrm>
            <a:off x="8412480" y="3383280"/>
            <a:ext cx="3383280" cy="2743200"/>
          </a:xfrm>
          <a:prstGeom prst="rect">
            <a:avLst/>
          </a:prstGeom>
          <a:noFill/>
        </p:spPr>
        <p:txBody>
          <a:bodyPr wrap="square">
            <a:spAutoFit/>
          </a:bodyPr>
          <a:lstStyle/>
          <a:p>
            <a:pPr algn="l">
              <a:defRPr sz="1200" b="0">
                <a:solidFill>
                  <a:srgbClr val="1E293B"/>
                </a:solidFill>
              </a:defRPr>
            </a:pPr>
            <a:r>
              <a:t>• Admin CAN list users</a:t>
            </a:r>
            <a:br/>
            <a:r>
              <a:t>• Manager CANNOT list users</a:t>
            </a:r>
            <a:br/>
            <a:r>
              <a:t>• Learner CANNOT access risk</a:t>
            </a:r>
            <a:br/>
            <a:r>
              <a:t>• Compliance CAN read audit</a:t>
            </a:r>
            <a:br/>
            <a:r>
              <a:t>• Trainer CANNOT read audit</a:t>
            </a:r>
            <a:br/>
            <a:r>
              <a:t>• Learner CANNOT view others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Demo Summary</a:t>
            </a:r>
          </a:p>
        </p:txBody>
      </p:sp>
      <p:sp>
        <p:nvSpPr>
          <p:cNvPr id="3" name="Rounded Rectangle 2"/>
          <p:cNvSpPr/>
          <p:nvPr/>
        </p:nvSpPr>
        <p:spPr>
          <a:xfrm>
            <a:off x="457200" y="1188720"/>
            <a:ext cx="2651760" cy="10058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2651760" cy="548640"/>
          </a:xfrm>
          <a:prstGeom prst="rect">
            <a:avLst/>
          </a:prstGeom>
          <a:noFill/>
        </p:spPr>
        <p:txBody>
          <a:bodyPr wrap="square">
            <a:spAutoFit/>
          </a:bodyPr>
          <a:lstStyle/>
          <a:p>
            <a:pPr algn="ctr">
              <a:defRPr sz="3200" b="1">
                <a:solidFill>
                  <a:srgbClr val="1E293B"/>
                </a:solidFill>
              </a:defRPr>
            </a:pPr>
            <a:r>
              <a:t>5</a:t>
            </a:r>
          </a:p>
        </p:txBody>
      </p:sp>
      <p:sp>
        <p:nvSpPr>
          <p:cNvPr id="5" name="TextBox 4"/>
          <p:cNvSpPr txBox="1"/>
          <p:nvPr/>
        </p:nvSpPr>
        <p:spPr>
          <a:xfrm>
            <a:off x="457200" y="1874520"/>
            <a:ext cx="2651760" cy="274320"/>
          </a:xfrm>
          <a:prstGeom prst="rect">
            <a:avLst/>
          </a:prstGeom>
          <a:noFill/>
        </p:spPr>
        <p:txBody>
          <a:bodyPr wrap="square">
            <a:spAutoFit/>
          </a:bodyPr>
          <a:lstStyle/>
          <a:p>
            <a:pPr algn="ctr">
              <a:defRPr sz="1200" b="0">
                <a:solidFill>
                  <a:srgbClr val="64748B"/>
                </a:solidFill>
              </a:defRPr>
            </a:pPr>
            <a:r>
              <a:t>RBAC Roles</a:t>
            </a:r>
          </a:p>
        </p:txBody>
      </p:sp>
      <p:sp>
        <p:nvSpPr>
          <p:cNvPr id="6" name="Rounded Rectangle 5"/>
          <p:cNvSpPr/>
          <p:nvPr/>
        </p:nvSpPr>
        <p:spPr>
          <a:xfrm>
            <a:off x="3291840" y="1188720"/>
            <a:ext cx="2651760" cy="100584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1280160"/>
            <a:ext cx="2651760" cy="548640"/>
          </a:xfrm>
          <a:prstGeom prst="rect">
            <a:avLst/>
          </a:prstGeom>
          <a:noFill/>
        </p:spPr>
        <p:txBody>
          <a:bodyPr wrap="square">
            <a:spAutoFit/>
          </a:bodyPr>
          <a:lstStyle/>
          <a:p>
            <a:pPr algn="ctr">
              <a:defRPr sz="3200" b="1">
                <a:solidFill>
                  <a:srgbClr val="1E293B"/>
                </a:solidFill>
              </a:defRPr>
            </a:pPr>
            <a:r>
              <a:t>20+</a:t>
            </a:r>
          </a:p>
        </p:txBody>
      </p:sp>
      <p:sp>
        <p:nvSpPr>
          <p:cNvPr id="8" name="TextBox 7"/>
          <p:cNvSpPr txBox="1"/>
          <p:nvPr/>
        </p:nvSpPr>
        <p:spPr>
          <a:xfrm>
            <a:off x="3291840" y="1874520"/>
            <a:ext cx="2651760" cy="274320"/>
          </a:xfrm>
          <a:prstGeom prst="rect">
            <a:avLst/>
          </a:prstGeom>
          <a:noFill/>
        </p:spPr>
        <p:txBody>
          <a:bodyPr wrap="square">
            <a:spAutoFit/>
          </a:bodyPr>
          <a:lstStyle/>
          <a:p>
            <a:pPr algn="ctr">
              <a:defRPr sz="1200" b="0">
                <a:solidFill>
                  <a:srgbClr val="64748B"/>
                </a:solidFill>
              </a:defRPr>
            </a:pPr>
            <a:r>
              <a:t>API Endpoints</a:t>
            </a:r>
          </a:p>
        </p:txBody>
      </p:sp>
      <p:sp>
        <p:nvSpPr>
          <p:cNvPr id="9" name="Rounded Rectangle 8"/>
          <p:cNvSpPr/>
          <p:nvPr/>
        </p:nvSpPr>
        <p:spPr>
          <a:xfrm>
            <a:off x="6126480" y="1188720"/>
            <a:ext cx="2651760" cy="100584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280160"/>
            <a:ext cx="2651760" cy="548640"/>
          </a:xfrm>
          <a:prstGeom prst="rect">
            <a:avLst/>
          </a:prstGeom>
          <a:noFill/>
        </p:spPr>
        <p:txBody>
          <a:bodyPr wrap="square">
            <a:spAutoFit/>
          </a:bodyPr>
          <a:lstStyle/>
          <a:p>
            <a:pPr algn="ctr">
              <a:defRPr sz="3200" b="1">
                <a:solidFill>
                  <a:srgbClr val="1E293B"/>
                </a:solidFill>
              </a:defRPr>
            </a:pPr>
            <a:r>
              <a:t>14</a:t>
            </a:r>
          </a:p>
        </p:txBody>
      </p:sp>
      <p:sp>
        <p:nvSpPr>
          <p:cNvPr id="11" name="TextBox 10"/>
          <p:cNvSpPr txBox="1"/>
          <p:nvPr/>
        </p:nvSpPr>
        <p:spPr>
          <a:xfrm>
            <a:off x="6126480" y="1874520"/>
            <a:ext cx="2651760" cy="274320"/>
          </a:xfrm>
          <a:prstGeom prst="rect">
            <a:avLst/>
          </a:prstGeom>
          <a:noFill/>
        </p:spPr>
        <p:txBody>
          <a:bodyPr wrap="square">
            <a:spAutoFit/>
          </a:bodyPr>
          <a:lstStyle/>
          <a:p>
            <a:pPr algn="ctr">
              <a:defRPr sz="1200" b="0">
                <a:solidFill>
                  <a:srgbClr val="64748B"/>
                </a:solidFill>
              </a:defRPr>
            </a:pPr>
            <a:r>
              <a:t>DB Tables</a:t>
            </a:r>
          </a:p>
        </p:txBody>
      </p:sp>
      <p:sp>
        <p:nvSpPr>
          <p:cNvPr id="12" name="Rounded Rectangle 11"/>
          <p:cNvSpPr/>
          <p:nvPr/>
        </p:nvSpPr>
        <p:spPr>
          <a:xfrm>
            <a:off x="8961120" y="1188720"/>
            <a:ext cx="2651760" cy="1005840"/>
          </a:xfrm>
          <a:prstGeom prst="round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1280160"/>
            <a:ext cx="2651760" cy="548640"/>
          </a:xfrm>
          <a:prstGeom prst="rect">
            <a:avLst/>
          </a:prstGeom>
          <a:noFill/>
        </p:spPr>
        <p:txBody>
          <a:bodyPr wrap="square">
            <a:spAutoFit/>
          </a:bodyPr>
          <a:lstStyle/>
          <a:p>
            <a:pPr algn="ctr">
              <a:defRPr sz="3200" b="1">
                <a:solidFill>
                  <a:srgbClr val="1E293B"/>
                </a:solidFill>
              </a:defRPr>
            </a:pPr>
            <a:r>
              <a:t>30+</a:t>
            </a:r>
          </a:p>
        </p:txBody>
      </p:sp>
      <p:sp>
        <p:nvSpPr>
          <p:cNvPr id="14" name="TextBox 13"/>
          <p:cNvSpPr txBox="1"/>
          <p:nvPr/>
        </p:nvSpPr>
        <p:spPr>
          <a:xfrm>
            <a:off x="8961120" y="1874520"/>
            <a:ext cx="2651760" cy="274320"/>
          </a:xfrm>
          <a:prstGeom prst="rect">
            <a:avLst/>
          </a:prstGeom>
          <a:noFill/>
        </p:spPr>
        <p:txBody>
          <a:bodyPr wrap="square">
            <a:spAutoFit/>
          </a:bodyPr>
          <a:lstStyle/>
          <a:p>
            <a:pPr algn="ctr">
              <a:defRPr sz="1200" b="0">
                <a:solidFill>
                  <a:srgbClr val="64748B"/>
                </a:solidFill>
              </a:defRPr>
            </a:pPr>
            <a:r>
              <a:t>Test Cases</a:t>
            </a:r>
          </a:p>
        </p:txBody>
      </p:sp>
      <p:sp>
        <p:nvSpPr>
          <p:cNvPr id="15" name="TextBox 14"/>
          <p:cNvSpPr txBox="1"/>
          <p:nvPr/>
        </p:nvSpPr>
        <p:spPr>
          <a:xfrm>
            <a:off x="457200" y="2468880"/>
            <a:ext cx="4572000" cy="320040"/>
          </a:xfrm>
          <a:prstGeom prst="rect">
            <a:avLst/>
          </a:prstGeom>
          <a:noFill/>
        </p:spPr>
        <p:txBody>
          <a:bodyPr wrap="square">
            <a:spAutoFit/>
          </a:bodyPr>
          <a:lstStyle/>
          <a:p>
            <a:pPr algn="l">
              <a:defRPr sz="1600" b="1">
                <a:solidFill>
                  <a:srgbClr val="2563EB"/>
                </a:solidFill>
              </a:defRPr>
            </a:pPr>
            <a:r>
              <a:t>Demo Credentials</a:t>
            </a:r>
          </a:p>
        </p:txBody>
      </p:sp>
      <p:graphicFrame>
        <p:nvGraphicFramePr>
          <p:cNvPr id="16" name="Table 15"/>
          <p:cNvGraphicFramePr>
            <a:graphicFrameLocks noGrp="1"/>
          </p:cNvGraphicFramePr>
          <p:nvPr/>
        </p:nvGraphicFramePr>
        <p:xfrm>
          <a:off x="365760" y="2880360"/>
          <a:ext cx="11155680" cy="1975104"/>
        </p:xfrm>
        <a:graphic>
          <a:graphicData uri="http://schemas.openxmlformats.org/drawingml/2006/table">
            <a:tbl>
              <a:tblPr firstRow="1" bandRow="1">
                <a:tableStyleId>{5C22544A-7EE6-4342-B048-85BDC9FD1C3A}</a:tableStyleId>
              </a:tblPr>
              <a:tblGrid>
                <a:gridCol w="1371600"/>
                <a:gridCol w="1645920"/>
                <a:gridCol w="2011680"/>
                <a:gridCol w="6126480"/>
              </a:tblGrid>
              <a:tr h="329184">
                <a:tc>
                  <a:txBody>
                    <a:bodyPr/>
                    <a:lstStyle/>
                    <a:p>
                      <a:pPr>
                        <a:defRPr sz="1200" b="1">
                          <a:solidFill>
                            <a:srgbClr val="FFFFFF"/>
                          </a:solidFill>
                        </a:defRPr>
                      </a:pPr>
                      <a:r>
                        <a:t>Role</a:t>
                      </a:r>
                    </a:p>
                  </a:txBody>
                  <a:tcPr anchor="ctr">
                    <a:solidFill>
                      <a:srgbClr val="2563EB"/>
                    </a:solidFill>
                  </a:tcPr>
                </a:tc>
                <a:tc>
                  <a:txBody>
                    <a:bodyPr/>
                    <a:lstStyle/>
                    <a:p>
                      <a:pPr>
                        <a:defRPr sz="1200" b="1">
                          <a:solidFill>
                            <a:srgbClr val="FFFFFF"/>
                          </a:solidFill>
                        </a:defRPr>
                      </a:pPr>
                      <a:r>
                        <a:t>Username</a:t>
                      </a:r>
                    </a:p>
                  </a:txBody>
                  <a:tcPr anchor="ctr">
                    <a:solidFill>
                      <a:srgbClr val="2563EB"/>
                    </a:solidFill>
                  </a:tcPr>
                </a:tc>
                <a:tc>
                  <a:txBody>
                    <a:bodyPr/>
                    <a:lstStyle/>
                    <a:p>
                      <a:pPr>
                        <a:defRPr sz="1200" b="1">
                          <a:solidFill>
                            <a:srgbClr val="FFFFFF"/>
                          </a:solidFill>
                        </a:defRPr>
                      </a:pPr>
                      <a:r>
                        <a:t>Password</a:t>
                      </a:r>
                    </a:p>
                  </a:txBody>
                  <a:tcPr anchor="ctr">
                    <a:solidFill>
                      <a:srgbClr val="2563EB"/>
                    </a:solidFill>
                  </a:tcPr>
                </a:tc>
                <a:tc>
                  <a:txBody>
                    <a:bodyPr/>
                    <a:lstStyle/>
                    <a:p>
                      <a:pPr>
                        <a:defRPr sz="1200" b="1">
                          <a:solidFill>
                            <a:srgbClr val="FFFFFF"/>
                          </a:solidFill>
                        </a:defRPr>
                      </a:pPr>
                      <a:r>
                        <a:t>Sees</a:t>
                      </a:r>
                    </a:p>
                  </a:txBody>
                  <a:tcPr anchor="ctr">
                    <a:solidFill>
                      <a:srgbClr val="2563EB"/>
                    </a:solidFill>
                  </a:tcPr>
                </a:tc>
              </a:tr>
              <a:tr h="329184">
                <a:tc>
                  <a:txBody>
                    <a:bodyPr/>
                    <a:lstStyle/>
                    <a:p>
                      <a:pPr>
                        <a:defRPr sz="1100" b="0">
                          <a:solidFill>
                            <a:srgbClr val="1E293B"/>
                          </a:solidFill>
                        </a:defRPr>
                      </a:pPr>
                      <a:r>
                        <a:t>L&amp;D Admin</a:t>
                      </a:r>
                    </a:p>
                  </a:txBody>
                  <a:tcPr anchor="ctr"/>
                </a:tc>
                <a:tc>
                  <a:txBody>
                    <a:bodyPr/>
                    <a:lstStyle/>
                    <a:p>
                      <a:pPr>
                        <a:defRPr sz="1100" b="0">
                          <a:solidFill>
                            <a:srgbClr val="1E293B"/>
                          </a:solidFill>
                        </a:defRPr>
                      </a:pPr>
                      <a:r>
                        <a:t>admin</a:t>
                      </a:r>
                    </a:p>
                  </a:txBody>
                  <a:tcPr anchor="ctr"/>
                </a:tc>
                <a:tc>
                  <a:txBody>
                    <a:bodyPr/>
                    <a:lstStyle/>
                    <a:p>
                      <a:pPr>
                        <a:defRPr sz="1100" b="0">
                          <a:solidFill>
                            <a:srgbClr val="1E293B"/>
                          </a:solidFill>
                        </a:defRPr>
                      </a:pPr>
                      <a:r>
                        <a:t>admin123</a:t>
                      </a:r>
                    </a:p>
                  </a:txBody>
                  <a:tcPr anchor="ctr"/>
                </a:tc>
                <a:tc>
                  <a:txBody>
                    <a:bodyPr/>
                    <a:lstStyle/>
                    <a:p>
                      <a:pPr>
                        <a:defRPr sz="1100" b="0">
                          <a:solidFill>
                            <a:srgbClr val="1E293B"/>
                          </a:solidFill>
                        </a:defRPr>
                      </a:pPr>
                      <a:r>
                        <a:t>All modules + AI model + user management</a:t>
                      </a:r>
                    </a:p>
                  </a:txBody>
                  <a:tcPr anchor="ctr"/>
                </a:tc>
              </a:tr>
              <a:tr h="329184">
                <a:tc>
                  <a:txBody>
                    <a:bodyPr/>
                    <a:lstStyle/>
                    <a:p>
                      <a:pPr>
                        <a:defRPr sz="1100" b="0">
                          <a:solidFill>
                            <a:srgbClr val="1E293B"/>
                          </a:solidFill>
                        </a:defRPr>
                      </a:pPr>
                      <a:r>
                        <a:t>Manager</a:t>
                      </a:r>
                    </a:p>
                  </a:txBody>
                  <a:tcPr anchor="ctr">
                    <a:solidFill>
                      <a:srgbClr val="F1F5F9"/>
                    </a:solidFill>
                  </a:tcPr>
                </a:tc>
                <a:tc>
                  <a:txBody>
                    <a:bodyPr/>
                    <a:lstStyle/>
                    <a:p>
                      <a:pPr>
                        <a:defRPr sz="1100" b="0">
                          <a:solidFill>
                            <a:srgbClr val="1E293B"/>
                          </a:solidFill>
                        </a:defRPr>
                      </a:pPr>
                      <a:r>
                        <a:t>manager</a:t>
                      </a:r>
                    </a:p>
                  </a:txBody>
                  <a:tcPr anchor="ctr">
                    <a:solidFill>
                      <a:srgbClr val="F1F5F9"/>
                    </a:solidFill>
                  </a:tcPr>
                </a:tc>
                <a:tc>
                  <a:txBody>
                    <a:bodyPr/>
                    <a:lstStyle/>
                    <a:p>
                      <a:pPr>
                        <a:defRPr sz="1100" b="0">
                          <a:solidFill>
                            <a:srgbClr val="1E293B"/>
                          </a:solidFill>
                        </a:defRPr>
                      </a:pPr>
                      <a:r>
                        <a:t>manager123</a:t>
                      </a:r>
                    </a:p>
                  </a:txBody>
                  <a:tcPr anchor="ctr">
                    <a:solidFill>
                      <a:srgbClr val="F1F5F9"/>
                    </a:solidFill>
                  </a:tcPr>
                </a:tc>
                <a:tc>
                  <a:txBody>
                    <a:bodyPr/>
                    <a:lstStyle/>
                    <a:p>
                      <a:pPr>
                        <a:defRPr sz="1100" b="0">
                          <a:solidFill>
                            <a:srgbClr val="1E293B"/>
                          </a:solidFill>
                        </a:defRPr>
                      </a:pPr>
                      <a:r>
                        <a:t>Team learners, interventions, compliance</a:t>
                      </a:r>
                    </a:p>
                  </a:txBody>
                  <a:tcPr anchor="ctr">
                    <a:solidFill>
                      <a:srgbClr val="F1F5F9"/>
                    </a:solidFill>
                  </a:tcPr>
                </a:tc>
              </a:tr>
              <a:tr h="329184">
                <a:tc>
                  <a:txBody>
                    <a:bodyPr/>
                    <a:lstStyle/>
                    <a:p>
                      <a:pPr>
                        <a:defRPr sz="1100" b="0">
                          <a:solidFill>
                            <a:srgbClr val="1E293B"/>
                          </a:solidFill>
                        </a:defRPr>
                      </a:pPr>
                      <a:r>
                        <a:t>Trainer</a:t>
                      </a:r>
                    </a:p>
                  </a:txBody>
                  <a:tcPr anchor="ctr"/>
                </a:tc>
                <a:tc>
                  <a:txBody>
                    <a:bodyPr/>
                    <a:lstStyle/>
                    <a:p>
                      <a:pPr>
                        <a:defRPr sz="1100" b="0">
                          <a:solidFill>
                            <a:srgbClr val="1E293B"/>
                          </a:solidFill>
                        </a:defRPr>
                      </a:pPr>
                      <a:r>
                        <a:t>trainer</a:t>
                      </a:r>
                    </a:p>
                  </a:txBody>
                  <a:tcPr anchor="ctr"/>
                </a:tc>
                <a:tc>
                  <a:txBody>
                    <a:bodyPr/>
                    <a:lstStyle/>
                    <a:p>
                      <a:pPr>
                        <a:defRPr sz="1100" b="0">
                          <a:solidFill>
                            <a:srgbClr val="1E293B"/>
                          </a:solidFill>
                        </a:defRPr>
                      </a:pPr>
                      <a:r>
                        <a:t>trainer123</a:t>
                      </a:r>
                    </a:p>
                  </a:txBody>
                  <a:tcPr anchor="ctr"/>
                </a:tc>
                <a:tc>
                  <a:txBody>
                    <a:bodyPr/>
                    <a:lstStyle/>
                    <a:p>
                      <a:pPr>
                        <a:defRPr sz="1100" b="0">
                          <a:solidFill>
                            <a:srgbClr val="1E293B"/>
                          </a:solidFill>
                        </a:defRPr>
                      </a:pPr>
                      <a:r>
                        <a:t>Learner progress, data ingestion, interventions</a:t>
                      </a:r>
                    </a:p>
                  </a:txBody>
                  <a:tcPr anchor="ctr"/>
                </a:tc>
              </a:tr>
              <a:tr h="329184">
                <a:tc>
                  <a:txBody>
                    <a:bodyPr/>
                    <a:lstStyle/>
                    <a:p>
                      <a:pPr>
                        <a:defRPr sz="1100" b="0">
                          <a:solidFill>
                            <a:srgbClr val="1E293B"/>
                          </a:solidFill>
                        </a:defRPr>
                      </a:pPr>
                      <a:r>
                        <a:t>Compliance</a:t>
                      </a:r>
                    </a:p>
                  </a:txBody>
                  <a:tcPr anchor="ctr">
                    <a:solidFill>
                      <a:srgbClr val="F1F5F9"/>
                    </a:solidFill>
                  </a:tcPr>
                </a:tc>
                <a:tc>
                  <a:txBody>
                    <a:bodyPr/>
                    <a:lstStyle/>
                    <a:p>
                      <a:pPr>
                        <a:defRPr sz="1100" b="0">
                          <a:solidFill>
                            <a:srgbClr val="1E293B"/>
                          </a:solidFill>
                        </a:defRPr>
                      </a:pPr>
                      <a:r>
                        <a:t>compliance</a:t>
                      </a:r>
                    </a:p>
                  </a:txBody>
                  <a:tcPr anchor="ctr">
                    <a:solidFill>
                      <a:srgbClr val="F1F5F9"/>
                    </a:solidFill>
                  </a:tcPr>
                </a:tc>
                <a:tc>
                  <a:txBody>
                    <a:bodyPr/>
                    <a:lstStyle/>
                    <a:p>
                      <a:pPr>
                        <a:defRPr sz="1100" b="0">
                          <a:solidFill>
                            <a:srgbClr val="1E293B"/>
                          </a:solidFill>
                        </a:defRPr>
                      </a:pPr>
                      <a:r>
                        <a:t>compliance123</a:t>
                      </a:r>
                    </a:p>
                  </a:txBody>
                  <a:tcPr anchor="ctr">
                    <a:solidFill>
                      <a:srgbClr val="F1F5F9"/>
                    </a:solidFill>
                  </a:tcPr>
                </a:tc>
                <a:tc>
                  <a:txBody>
                    <a:bodyPr/>
                    <a:lstStyle/>
                    <a:p>
                      <a:pPr>
                        <a:defRPr sz="1100" b="0">
                          <a:solidFill>
                            <a:srgbClr val="1E293B"/>
                          </a:solidFill>
                        </a:defRPr>
                      </a:pPr>
                      <a:r>
                        <a:t>Compliance reports, audit trail</a:t>
                      </a:r>
                    </a:p>
                  </a:txBody>
                  <a:tcPr anchor="ctr">
                    <a:solidFill>
                      <a:srgbClr val="F1F5F9"/>
                    </a:solidFill>
                  </a:tcPr>
                </a:tc>
              </a:tr>
              <a:tr h="329184">
                <a:tc>
                  <a:txBody>
                    <a:bodyPr/>
                    <a:lstStyle/>
                    <a:p>
                      <a:pPr>
                        <a:defRPr sz="1100" b="0">
                          <a:solidFill>
                            <a:srgbClr val="1E293B"/>
                          </a:solidFill>
                        </a:defRPr>
                      </a:pPr>
                      <a:r>
                        <a:t>Learner</a:t>
                      </a:r>
                    </a:p>
                  </a:txBody>
                  <a:tcPr anchor="ctr"/>
                </a:tc>
                <a:tc>
                  <a:txBody>
                    <a:bodyPr/>
                    <a:lstStyle/>
                    <a:p>
                      <a:pPr>
                        <a:defRPr sz="1100" b="0">
                          <a:solidFill>
                            <a:srgbClr val="1E293B"/>
                          </a:solidFill>
                        </a:defRPr>
                      </a:pPr>
                      <a:r>
                        <a:t>learner1</a:t>
                      </a:r>
                    </a:p>
                  </a:txBody>
                  <a:tcPr anchor="ctr"/>
                </a:tc>
                <a:tc>
                  <a:txBody>
                    <a:bodyPr/>
                    <a:lstStyle/>
                    <a:p>
                      <a:pPr>
                        <a:defRPr sz="1100" b="0">
                          <a:solidFill>
                            <a:srgbClr val="1E293B"/>
                          </a:solidFill>
                        </a:defRPr>
                      </a:pPr>
                      <a:r>
                        <a:t>learner123</a:t>
                      </a:r>
                    </a:p>
                  </a:txBody>
                  <a:tcPr anchor="ctr"/>
                </a:tc>
                <a:tc>
                  <a:txBody>
                    <a:bodyPr/>
                    <a:lstStyle/>
                    <a:p>
                      <a:pPr>
                        <a:defRPr sz="1100" b="0">
                          <a:solidFill>
                            <a:srgbClr val="1E293B"/>
                          </a:solidFill>
                        </a:defRPr>
                      </a:pPr>
                      <a:r>
                        <a:t>Own profile only</a:t>
                      </a:r>
                    </a:p>
                  </a:txBody>
                  <a:tcPr anchor="ctr"/>
                </a:tc>
              </a:tr>
            </a:tbl>
          </a:graphicData>
        </a:graphic>
      </p:graphicFrame>
      <p:sp>
        <p:nvSpPr>
          <p:cNvPr id="17" name="Rounded Rectangle 16"/>
          <p:cNvSpPr/>
          <p:nvPr/>
        </p:nvSpPr>
        <p:spPr>
          <a:xfrm>
            <a:off x="365760" y="5303520"/>
            <a:ext cx="114300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349240"/>
            <a:ext cx="10972800" cy="320040"/>
          </a:xfrm>
          <a:prstGeom prst="rect">
            <a:avLst/>
          </a:prstGeom>
          <a:noFill/>
        </p:spPr>
        <p:txBody>
          <a:bodyPr wrap="square">
            <a:spAutoFit/>
          </a:bodyPr>
          <a:lstStyle/>
          <a:p>
            <a:pPr algn="l">
              <a:defRPr sz="1200" b="1">
                <a:solidFill>
                  <a:srgbClr val="1E293B"/>
                </a:solidFill>
              </a:defRPr>
            </a:pPr>
            <a:r>
              <a:t>Setup:  cd backend &amp;&amp; pip install -r requirements.txt &amp;&amp; uvicorn app.main:app --port 8000</a:t>
            </a:r>
          </a:p>
        </p:txBody>
      </p:sp>
      <p:sp>
        <p:nvSpPr>
          <p:cNvPr id="19" name="TextBox 18"/>
          <p:cNvSpPr txBox="1"/>
          <p:nvPr/>
        </p:nvSpPr>
        <p:spPr>
          <a:xfrm>
            <a:off x="548640" y="5669280"/>
            <a:ext cx="10972800" cy="320040"/>
          </a:xfrm>
          <a:prstGeom prst="rect">
            <a:avLst/>
          </a:prstGeom>
          <a:noFill/>
        </p:spPr>
        <p:txBody>
          <a:bodyPr wrap="square">
            <a:spAutoFit/>
          </a:bodyPr>
          <a:lstStyle/>
          <a:p>
            <a:pPr algn="l">
              <a:defRPr sz="1200" b="1">
                <a:solidFill>
                  <a:srgbClr val="1E293B"/>
                </a:solidFill>
              </a:defRPr>
            </a:pPr>
            <a:r>
              <a:t>Frontend:  cd frontend &amp;&amp; npm install &amp;&amp; npm run dev</a:t>
            </a:r>
          </a:p>
        </p:txBody>
      </p:sp>
      <p:sp>
        <p:nvSpPr>
          <p:cNvPr id="20" name="TextBox 19"/>
          <p:cNvSpPr txBox="1"/>
          <p:nvPr/>
        </p:nvSpPr>
        <p:spPr>
          <a:xfrm>
            <a:off x="548640" y="5989320"/>
            <a:ext cx="10972800" cy="320040"/>
          </a:xfrm>
          <a:prstGeom prst="rect">
            <a:avLst/>
          </a:prstGeom>
          <a:noFill/>
        </p:spPr>
        <p:txBody>
          <a:bodyPr wrap="square">
            <a:spAutoFit/>
          </a:bodyPr>
          <a:lstStyle/>
          <a:p>
            <a:pPr algn="l">
              <a:defRPr sz="1200" b="0">
                <a:solidFill>
                  <a:srgbClr val="64748B"/>
                </a:solidFill>
              </a:defRPr>
            </a:pPr>
            <a:r>
              <a:t>Open:  http://localhost:3000  |  API Docs: http://localhost:8000/docs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Team Roles &amp; Responsibilities</a:t>
            </a:r>
          </a:p>
        </p:txBody>
      </p:sp>
      <p:sp>
        <p:nvSpPr>
          <p:cNvPr id="3" name="Rounded Rectangle 2"/>
          <p:cNvSpPr/>
          <p:nvPr/>
        </p:nvSpPr>
        <p:spPr>
          <a:xfrm>
            <a:off x="365760" y="1280160"/>
            <a:ext cx="3657600"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0"/>
            <a:ext cx="73152" cy="411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53312"/>
            <a:ext cx="3383280" cy="320040"/>
          </a:xfrm>
          <a:prstGeom prst="rect">
            <a:avLst/>
          </a:prstGeom>
          <a:noFill/>
        </p:spPr>
        <p:txBody>
          <a:bodyPr wrap="square">
            <a:spAutoFit/>
          </a:bodyPr>
          <a:lstStyle/>
          <a:p>
            <a:pPr algn="l">
              <a:defRPr sz="1400" b="1">
                <a:solidFill>
                  <a:srgbClr val="2563EB"/>
                </a:solidFill>
              </a:defRPr>
            </a:pPr>
            <a:r>
              <a:t>Inas Souza — Architecture Lead</a:t>
            </a:r>
          </a:p>
        </p:txBody>
      </p:sp>
      <p:sp>
        <p:nvSpPr>
          <p:cNvPr id="6" name="TextBox 5"/>
          <p:cNvSpPr txBox="1"/>
          <p:nvPr/>
        </p:nvSpPr>
        <p:spPr>
          <a:xfrm>
            <a:off x="548640" y="1645920"/>
            <a:ext cx="3383280" cy="3657600"/>
          </a:xfrm>
          <a:prstGeom prst="rect">
            <a:avLst/>
          </a:prstGeom>
          <a:noFill/>
        </p:spPr>
        <p:txBody>
          <a:bodyPr wrap="square">
            <a:spAutoFit/>
          </a:bodyPr>
          <a:lstStyle/>
          <a:p>
            <a:pPr algn="l">
              <a:defRPr sz="1300" b="0">
                <a:solidFill>
                  <a:srgbClr val="1E293B"/>
                </a:solidFill>
              </a:defRPr>
            </a:pPr>
            <a:r>
              <a:t>• System design &amp; tech justification</a:t>
            </a:r>
            <a:br/>
            <a:r>
              <a:t>• AI/ML risk module</a:t>
            </a:r>
            <a:br/>
            <a:r>
              <a:t>• Database schema (14 tables)</a:t>
            </a:r>
            <a:br/>
            <a:r>
              <a:t>• RBAC permission model (5 roles)</a:t>
            </a:r>
            <a:br/>
            <a:r>
              <a:t>• Architecture review</a:t>
            </a:r>
          </a:p>
        </p:txBody>
      </p:sp>
      <p:sp>
        <p:nvSpPr>
          <p:cNvPr id="7" name="Rounded Rectangle 6"/>
          <p:cNvSpPr/>
          <p:nvPr/>
        </p:nvSpPr>
        <p:spPr>
          <a:xfrm>
            <a:off x="4297680" y="1280160"/>
            <a:ext cx="3657600"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280160"/>
            <a:ext cx="73152" cy="4114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353312"/>
            <a:ext cx="3383280" cy="320040"/>
          </a:xfrm>
          <a:prstGeom prst="rect">
            <a:avLst/>
          </a:prstGeom>
          <a:noFill/>
        </p:spPr>
        <p:txBody>
          <a:bodyPr wrap="square">
            <a:spAutoFit/>
          </a:bodyPr>
          <a:lstStyle/>
          <a:p>
            <a:pPr algn="l">
              <a:defRPr sz="1400" b="1">
                <a:solidFill>
                  <a:srgbClr val="16A34A"/>
                </a:solidFill>
              </a:defRPr>
            </a:pPr>
            <a:r>
              <a:t>Gaurav Ashtankar — Full-Stack Developer</a:t>
            </a:r>
          </a:p>
        </p:txBody>
      </p:sp>
      <p:sp>
        <p:nvSpPr>
          <p:cNvPr id="10" name="TextBox 9"/>
          <p:cNvSpPr txBox="1"/>
          <p:nvPr/>
        </p:nvSpPr>
        <p:spPr>
          <a:xfrm>
            <a:off x="4480560" y="1645920"/>
            <a:ext cx="3383280" cy="3657600"/>
          </a:xfrm>
          <a:prstGeom prst="rect">
            <a:avLst/>
          </a:prstGeom>
          <a:noFill/>
        </p:spPr>
        <p:txBody>
          <a:bodyPr wrap="square">
            <a:spAutoFit/>
          </a:bodyPr>
          <a:lstStyle/>
          <a:p>
            <a:pPr algn="l">
              <a:defRPr sz="1300" b="0">
                <a:solidFill>
                  <a:srgbClr val="1E293B"/>
                </a:solidFill>
              </a:defRPr>
            </a:pPr>
            <a:r>
              <a:t>• FastAPI REST endpoints (20+)</a:t>
            </a:r>
            <a:br/>
            <a:r>
              <a:t>• React frontend (5 role views)</a:t>
            </a:r>
            <a:br/>
            <a:r>
              <a:t>• Data ingestion logic</a:t>
            </a:r>
            <a:br/>
            <a:r>
              <a:t>• Pydantic schemas</a:t>
            </a:r>
            <a:br/>
            <a:r>
              <a:t>• Test suite (28 tests)</a:t>
            </a:r>
          </a:p>
        </p:txBody>
      </p:sp>
      <p:sp>
        <p:nvSpPr>
          <p:cNvPr id="11" name="Rounded Rectangle 10"/>
          <p:cNvSpPr/>
          <p:nvPr/>
        </p:nvSpPr>
        <p:spPr>
          <a:xfrm>
            <a:off x="8229600" y="1280160"/>
            <a:ext cx="3657600"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1280160"/>
            <a:ext cx="73152" cy="4114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353312"/>
            <a:ext cx="3383280" cy="320040"/>
          </a:xfrm>
          <a:prstGeom prst="rect">
            <a:avLst/>
          </a:prstGeom>
          <a:noFill/>
        </p:spPr>
        <p:txBody>
          <a:bodyPr wrap="square">
            <a:spAutoFit/>
          </a:bodyPr>
          <a:lstStyle/>
          <a:p>
            <a:pPr algn="l">
              <a:defRPr sz="1400" b="1">
                <a:solidFill>
                  <a:srgbClr val="7C3AED"/>
                </a:solidFill>
              </a:defRPr>
            </a:pPr>
            <a:r>
              <a:t>Hemant Joshi — CI/CD &amp; Deployment</a:t>
            </a:r>
          </a:p>
        </p:txBody>
      </p:sp>
      <p:sp>
        <p:nvSpPr>
          <p:cNvPr id="14" name="TextBox 13"/>
          <p:cNvSpPr txBox="1"/>
          <p:nvPr/>
        </p:nvSpPr>
        <p:spPr>
          <a:xfrm>
            <a:off x="8412480" y="1645920"/>
            <a:ext cx="3383280" cy="3657600"/>
          </a:xfrm>
          <a:prstGeom prst="rect">
            <a:avLst/>
          </a:prstGeom>
          <a:noFill/>
        </p:spPr>
        <p:txBody>
          <a:bodyPr wrap="square">
            <a:spAutoFit/>
          </a:bodyPr>
          <a:lstStyle/>
          <a:p>
            <a:pPr algn="l">
              <a:defRPr sz="1300" b="0">
                <a:solidFill>
                  <a:srgbClr val="1E293B"/>
                </a:solidFill>
              </a:defRPr>
            </a:pPr>
            <a:r>
              <a:t>• Docker + Compose</a:t>
            </a:r>
            <a:br/>
            <a:r>
              <a:t>• GitHub Actions pipeline</a:t>
            </a:r>
            <a:br/>
            <a:r>
              <a:t>• Makefile + setup scripts</a:t>
            </a:r>
            <a:br/>
            <a:r>
              <a:t>• Documentation</a:t>
            </a:r>
            <a:br/>
            <a:r>
              <a:t>• Presentation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Future Plan &amp; Roadmap</a:t>
            </a:r>
          </a:p>
        </p:txBody>
      </p:sp>
      <p:sp>
        <p:nvSpPr>
          <p:cNvPr id="3" name="Rounded Rectangle 2"/>
          <p:cNvSpPr/>
          <p:nvPr/>
        </p:nvSpPr>
        <p:spPr>
          <a:xfrm>
            <a:off x="365760" y="1097280"/>
            <a:ext cx="5577840" cy="2560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097280"/>
            <a:ext cx="73152" cy="2560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70432"/>
            <a:ext cx="5303520" cy="320040"/>
          </a:xfrm>
          <a:prstGeom prst="rect">
            <a:avLst/>
          </a:prstGeom>
          <a:noFill/>
        </p:spPr>
        <p:txBody>
          <a:bodyPr wrap="square">
            <a:spAutoFit/>
          </a:bodyPr>
          <a:lstStyle/>
          <a:p>
            <a:pPr algn="l">
              <a:defRPr sz="1200" b="1">
                <a:solidFill>
                  <a:srgbClr val="2563EB"/>
                </a:solidFill>
              </a:defRPr>
            </a:pPr>
            <a:r>
              <a:t>Schema Creation &amp; Migration</a:t>
            </a:r>
          </a:p>
        </p:txBody>
      </p:sp>
      <p:sp>
        <p:nvSpPr>
          <p:cNvPr id="6" name="TextBox 5"/>
          <p:cNvSpPr txBox="1"/>
          <p:nvPr/>
        </p:nvSpPr>
        <p:spPr>
          <a:xfrm>
            <a:off x="548640" y="1463040"/>
            <a:ext cx="5303520" cy="2103120"/>
          </a:xfrm>
          <a:prstGeom prst="rect">
            <a:avLst/>
          </a:prstGeom>
          <a:noFill/>
        </p:spPr>
        <p:txBody>
          <a:bodyPr wrap="square">
            <a:spAutoFit/>
          </a:bodyPr>
          <a:lstStyle/>
          <a:p>
            <a:pPr algn="l">
              <a:defRPr sz="1100" b="0">
                <a:solidFill>
                  <a:srgbClr val="1E293B"/>
                </a:solidFill>
              </a:defRPr>
            </a:pPr>
            <a:r>
              <a:t>• Current: SQLite + auto-create via SQLAlchemy create_all()</a:t>
            </a:r>
            <a:br/>
            <a:r>
              <a:t>• Future: Alembic migration framework for versioned schemas</a:t>
            </a:r>
            <a:br/>
            <a:r>
              <a:t>• Zero-downtime migrations with alembic upgrade head</a:t>
            </a:r>
            <a:br/>
            <a:r>
              <a:t>• Rollback support: alembic downgrade -1</a:t>
            </a:r>
            <a:br/>
            <a:r>
              <a:t>• Environment-specific configs (dev/staging/prod)</a:t>
            </a:r>
            <a:br/>
            <a:r>
              <a:t>• PostgreSQL in production, SQLite for local dev</a:t>
            </a:r>
          </a:p>
        </p:txBody>
      </p:sp>
      <p:sp>
        <p:nvSpPr>
          <p:cNvPr id="7" name="Rounded Rectangle 6"/>
          <p:cNvSpPr/>
          <p:nvPr/>
        </p:nvSpPr>
        <p:spPr>
          <a:xfrm>
            <a:off x="6217920" y="1097280"/>
            <a:ext cx="5577840" cy="2560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097280"/>
            <a:ext cx="73152" cy="2560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70432"/>
            <a:ext cx="5303520" cy="320040"/>
          </a:xfrm>
          <a:prstGeom prst="rect">
            <a:avLst/>
          </a:prstGeom>
          <a:noFill/>
        </p:spPr>
        <p:txBody>
          <a:bodyPr wrap="square">
            <a:spAutoFit/>
          </a:bodyPr>
          <a:lstStyle/>
          <a:p>
            <a:pPr algn="l">
              <a:defRPr sz="1200" b="1">
                <a:solidFill>
                  <a:srgbClr val="16A34A"/>
                </a:solidFill>
              </a:defRPr>
            </a:pPr>
            <a:r>
              <a:t>Notifications — Email / Teams (Bot Agent)</a:t>
            </a:r>
          </a:p>
        </p:txBody>
      </p:sp>
      <p:sp>
        <p:nvSpPr>
          <p:cNvPr id="10" name="TextBox 9"/>
          <p:cNvSpPr txBox="1"/>
          <p:nvPr/>
        </p:nvSpPr>
        <p:spPr>
          <a:xfrm>
            <a:off x="6400800" y="1463040"/>
            <a:ext cx="5303520" cy="2103120"/>
          </a:xfrm>
          <a:prstGeom prst="rect">
            <a:avLst/>
          </a:prstGeom>
          <a:noFill/>
        </p:spPr>
        <p:txBody>
          <a:bodyPr wrap="square">
            <a:spAutoFit/>
          </a:bodyPr>
          <a:lstStyle/>
          <a:p>
            <a:pPr algn="l">
              <a:defRPr sz="1100" b="0">
                <a:solidFill>
                  <a:srgbClr val="1E293B"/>
                </a:solidFill>
              </a:defRPr>
            </a:pPr>
            <a:r>
              <a:t>• Email alerts: SMTP for risk threshold breaches</a:t>
            </a:r>
            <a:br/>
            <a:r>
              <a:t>• Teams Bot: webhooks on High/Critical risk, overdue interventions</a:t>
            </a:r>
            <a:br/>
            <a:r>
              <a:t>• Digest reports: weekly summary to managers via email</a:t>
            </a:r>
            <a:br/>
            <a:r>
              <a:t>• Configurable: admin sets notification rules per event</a:t>
            </a:r>
          </a:p>
        </p:txBody>
      </p:sp>
      <p:sp>
        <p:nvSpPr>
          <p:cNvPr id="11" name="Rounded Rectangle 10"/>
          <p:cNvSpPr/>
          <p:nvPr/>
        </p:nvSpPr>
        <p:spPr>
          <a:xfrm>
            <a:off x="365760" y="3931920"/>
            <a:ext cx="5577840" cy="2560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931920"/>
            <a:ext cx="73152" cy="2560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005072"/>
            <a:ext cx="5303520" cy="320040"/>
          </a:xfrm>
          <a:prstGeom prst="rect">
            <a:avLst/>
          </a:prstGeom>
          <a:noFill/>
        </p:spPr>
        <p:txBody>
          <a:bodyPr wrap="square">
            <a:spAutoFit/>
          </a:bodyPr>
          <a:lstStyle/>
          <a:p>
            <a:pPr algn="l">
              <a:defRPr sz="1200" b="1">
                <a:solidFill>
                  <a:srgbClr val="7C3AED"/>
                </a:solidFill>
              </a:defRPr>
            </a:pPr>
            <a:r>
              <a:t>Intervention — Mentoring &amp; Session Management</a:t>
            </a:r>
          </a:p>
        </p:txBody>
      </p:sp>
      <p:sp>
        <p:nvSpPr>
          <p:cNvPr id="14" name="TextBox 13"/>
          <p:cNvSpPr txBox="1"/>
          <p:nvPr/>
        </p:nvSpPr>
        <p:spPr>
          <a:xfrm>
            <a:off x="548640" y="4297680"/>
            <a:ext cx="5303520" cy="2103120"/>
          </a:xfrm>
          <a:prstGeom prst="rect">
            <a:avLst/>
          </a:prstGeom>
          <a:noFill/>
        </p:spPr>
        <p:txBody>
          <a:bodyPr wrap="square">
            <a:spAutoFit/>
          </a:bodyPr>
          <a:lstStyle/>
          <a:p>
            <a:pPr algn="l">
              <a:defRPr sz="1100" b="0">
                <a:solidFill>
                  <a:srgbClr val="1E293B"/>
                </a:solidFill>
              </a:defRPr>
            </a:pPr>
            <a:r>
              <a:t>• Training Manager schedules live mentoring sessions</a:t>
            </a:r>
            <a:br/>
            <a:r>
              <a:t>• Calendar integration for booking 1:1 sessions</a:t>
            </a:r>
            <a:br/>
            <a:r>
              <a:t>• Session notes and progress tracking per meeting</a:t>
            </a:r>
            <a:br/>
            <a:r>
              <a:t>• Automated follow-up reminders</a:t>
            </a:r>
            <a:br/>
            <a:r>
              <a:t>• Outcome recording after each session</a:t>
            </a:r>
            <a:br/>
            <a:r>
              <a:t>• Link intervention sessions to competency improvement</a:t>
            </a:r>
          </a:p>
        </p:txBody>
      </p:sp>
      <p:sp>
        <p:nvSpPr>
          <p:cNvPr id="15" name="Rounded Rectangle 14"/>
          <p:cNvSpPr/>
          <p:nvPr/>
        </p:nvSpPr>
        <p:spPr>
          <a:xfrm>
            <a:off x="6217920" y="3931920"/>
            <a:ext cx="5577840" cy="2560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73152" cy="2560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05072"/>
            <a:ext cx="5303520" cy="320040"/>
          </a:xfrm>
          <a:prstGeom prst="rect">
            <a:avLst/>
          </a:prstGeom>
          <a:noFill/>
        </p:spPr>
        <p:txBody>
          <a:bodyPr wrap="square">
            <a:spAutoFit/>
          </a:bodyPr>
          <a:lstStyle/>
          <a:p>
            <a:pPr algn="l">
              <a:defRPr sz="1200" b="1">
                <a:solidFill>
                  <a:srgbClr val="DC2626"/>
                </a:solidFill>
              </a:defRPr>
            </a:pPr>
            <a:r>
              <a:t>Additional Future Enhancements</a:t>
            </a:r>
          </a:p>
        </p:txBody>
      </p:sp>
      <p:sp>
        <p:nvSpPr>
          <p:cNvPr id="18" name="TextBox 17"/>
          <p:cNvSpPr txBox="1"/>
          <p:nvPr/>
        </p:nvSpPr>
        <p:spPr>
          <a:xfrm>
            <a:off x="6400800" y="4297680"/>
            <a:ext cx="5303520" cy="2103120"/>
          </a:xfrm>
          <a:prstGeom prst="rect">
            <a:avLst/>
          </a:prstGeom>
          <a:noFill/>
        </p:spPr>
        <p:txBody>
          <a:bodyPr wrap="square">
            <a:spAutoFit/>
          </a:bodyPr>
          <a:lstStyle/>
          <a:p>
            <a:pPr algn="l">
              <a:defRPr sz="1100" b="0">
                <a:solidFill>
                  <a:srgbClr val="1E293B"/>
                </a:solidFill>
              </a:defRPr>
            </a:pPr>
            <a:r>
              <a:t>• Advanced AI: XGBoost / Random Forest, SHAP explainability</a:t>
            </a:r>
            <a:br/>
            <a:r>
              <a:t>• Multi-tenancy: org-level isolation for SaaS deployment</a:t>
            </a:r>
            <a:br/>
            <a:r>
              <a:t>• LMS Integration: SCORM/xAPI connectors for auto-ingestion</a:t>
            </a:r>
            <a:br/>
            <a:r>
              <a:t>• Mobile App: React Native for learner self-service</a:t>
            </a:r>
            <a:br/>
            <a:r>
              <a:t>• Batch CSV Import: drag-and-drop bulk data upload UI</a:t>
            </a:r>
            <a:br/>
            <a:r>
              <a:t>• PDF Report Export: compliance reports as downloadable 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defRPr>
            </a:pPr>
            <a:r>
              <a:t>Anticipated Q&amp;A</a:t>
            </a:r>
          </a:p>
        </p:txBody>
      </p:sp>
      <p:sp>
        <p:nvSpPr>
          <p:cNvPr id="3" name="Rounded Rectangle 2"/>
          <p:cNvSpPr/>
          <p:nvPr/>
        </p:nvSpPr>
        <p:spPr>
          <a:xfrm>
            <a:off x="365760" y="10058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005840"/>
            <a:ext cx="73152"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78992"/>
            <a:ext cx="5303520" cy="320040"/>
          </a:xfrm>
          <a:prstGeom prst="rect">
            <a:avLst/>
          </a:prstGeom>
          <a:noFill/>
        </p:spPr>
        <p:txBody>
          <a:bodyPr wrap="square">
            <a:spAutoFit/>
          </a:bodyPr>
          <a:lstStyle/>
          <a:p>
            <a:pPr algn="l">
              <a:defRPr sz="1100" b="1">
                <a:solidFill>
                  <a:srgbClr val="2563EB"/>
                </a:solidFill>
              </a:defRPr>
            </a:pPr>
            <a:r>
              <a:t>Q: Why Python instead of .NET?</a:t>
            </a:r>
          </a:p>
        </p:txBody>
      </p:sp>
      <p:sp>
        <p:nvSpPr>
          <p:cNvPr id="6" name="TextBox 5"/>
          <p:cNvSpPr txBox="1"/>
          <p:nvPr/>
        </p:nvSpPr>
        <p:spPr>
          <a:xfrm>
            <a:off x="548640" y="1371600"/>
            <a:ext cx="5303520" cy="777240"/>
          </a:xfrm>
          <a:prstGeom prst="rect">
            <a:avLst/>
          </a:prstGeom>
          <a:noFill/>
        </p:spPr>
        <p:txBody>
          <a:bodyPr wrap="square">
            <a:spAutoFit/>
          </a:bodyPr>
          <a:lstStyle/>
          <a:p>
            <a:pPr algn="l">
              <a:defRPr sz="1000" b="0">
                <a:solidFill>
                  <a:srgbClr val="1E293B"/>
                </a:solidFill>
              </a:defRPr>
            </a:pPr>
            <a:r>
              <a:t>• For a Mac-local POC, Python + SQLite = zero-dependency setup in 30 sec. Same Clean Architecture boundaries. Prod: swap SQLite → PostgreSQL via one connection string.</a:t>
            </a:r>
          </a:p>
        </p:txBody>
      </p:sp>
      <p:sp>
        <p:nvSpPr>
          <p:cNvPr id="7" name="Rounded Rectangle 6"/>
          <p:cNvSpPr/>
          <p:nvPr/>
        </p:nvSpPr>
        <p:spPr>
          <a:xfrm>
            <a:off x="6080760" y="10058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0" y="1005840"/>
            <a:ext cx="73152" cy="12344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078992"/>
            <a:ext cx="5303520" cy="320040"/>
          </a:xfrm>
          <a:prstGeom prst="rect">
            <a:avLst/>
          </a:prstGeom>
          <a:noFill/>
        </p:spPr>
        <p:txBody>
          <a:bodyPr wrap="square">
            <a:spAutoFit/>
          </a:bodyPr>
          <a:lstStyle/>
          <a:p>
            <a:pPr algn="l">
              <a:defRPr sz="1100" b="1">
                <a:solidFill>
                  <a:srgbClr val="16A34A"/>
                </a:solidFill>
              </a:defRPr>
            </a:pPr>
            <a:r>
              <a:t>Q: Why Decision Tree, not a more advanced model?</a:t>
            </a:r>
          </a:p>
        </p:txBody>
      </p:sp>
      <p:sp>
        <p:nvSpPr>
          <p:cNvPr id="10" name="TextBox 9"/>
          <p:cNvSpPr txBox="1"/>
          <p:nvPr/>
        </p:nvSpPr>
        <p:spPr>
          <a:xfrm>
            <a:off x="6263640" y="1371600"/>
            <a:ext cx="5303520" cy="777240"/>
          </a:xfrm>
          <a:prstGeom prst="rect">
            <a:avLst/>
          </a:prstGeom>
          <a:noFill/>
        </p:spPr>
        <p:txBody>
          <a:bodyPr wrap="square">
            <a:spAutoFit/>
          </a:bodyPr>
          <a:lstStyle/>
          <a:p>
            <a:pPr algn="l">
              <a:defRPr sz="1000" b="0">
                <a:solidFill>
                  <a:srgbClr val="1E293B"/>
                </a:solidFill>
              </a:defRPr>
            </a:pPr>
            <a:r>
              <a:t>• Explainable (compliance needs 'why'), small-data friendly (&lt;1K records), no GPU, O(depth) inference. XGBoost + SHAP planned for Phase 3.</a:t>
            </a:r>
          </a:p>
        </p:txBody>
      </p:sp>
      <p:sp>
        <p:nvSpPr>
          <p:cNvPr id="11" name="Rounded Rectangle 10"/>
          <p:cNvSpPr/>
          <p:nvPr/>
        </p:nvSpPr>
        <p:spPr>
          <a:xfrm>
            <a:off x="365760" y="23774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377440"/>
            <a:ext cx="73152" cy="1234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450592"/>
            <a:ext cx="5303520" cy="320040"/>
          </a:xfrm>
          <a:prstGeom prst="rect">
            <a:avLst/>
          </a:prstGeom>
          <a:noFill/>
        </p:spPr>
        <p:txBody>
          <a:bodyPr wrap="square">
            <a:spAutoFit/>
          </a:bodyPr>
          <a:lstStyle/>
          <a:p>
            <a:pPr algn="l">
              <a:defRPr sz="1100" b="1">
                <a:solidFill>
                  <a:srgbClr val="7C3AED"/>
                </a:solidFill>
              </a:defRPr>
            </a:pPr>
            <a:r>
              <a:t>Q: Is RBAC just UI hiding or real security?</a:t>
            </a:r>
          </a:p>
        </p:txBody>
      </p:sp>
      <p:sp>
        <p:nvSpPr>
          <p:cNvPr id="14" name="TextBox 13"/>
          <p:cNvSpPr txBox="1"/>
          <p:nvPr/>
        </p:nvSpPr>
        <p:spPr>
          <a:xfrm>
            <a:off x="548640" y="2743200"/>
            <a:ext cx="5303520" cy="777240"/>
          </a:xfrm>
          <a:prstGeom prst="rect">
            <a:avLst/>
          </a:prstGeom>
          <a:noFill/>
        </p:spPr>
        <p:txBody>
          <a:bodyPr wrap="square">
            <a:spAutoFit/>
          </a:bodyPr>
          <a:lstStyle/>
          <a:p>
            <a:pPr algn="l">
              <a:defRPr sz="1000" b="0">
                <a:solidFill>
                  <a:srgbClr val="1E293B"/>
                </a:solidFill>
              </a:defRPr>
            </a:pPr>
            <a:r>
              <a:t>• Enforced at the API layer via FastAPI dependencies. Even bypassing UI → 403 Forbidden. Verified by 5 dedicated RBAC tests.</a:t>
            </a:r>
          </a:p>
        </p:txBody>
      </p:sp>
      <p:sp>
        <p:nvSpPr>
          <p:cNvPr id="15" name="Rounded Rectangle 14"/>
          <p:cNvSpPr/>
          <p:nvPr/>
        </p:nvSpPr>
        <p:spPr>
          <a:xfrm>
            <a:off x="6080760" y="23774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80760" y="2377440"/>
            <a:ext cx="73152" cy="1234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450592"/>
            <a:ext cx="5303520" cy="320040"/>
          </a:xfrm>
          <a:prstGeom prst="rect">
            <a:avLst/>
          </a:prstGeom>
          <a:noFill/>
        </p:spPr>
        <p:txBody>
          <a:bodyPr wrap="square">
            <a:spAutoFit/>
          </a:bodyPr>
          <a:lstStyle/>
          <a:p>
            <a:pPr algn="l">
              <a:defRPr sz="1100" b="1">
                <a:solidFill>
                  <a:srgbClr val="DC2626"/>
                </a:solidFill>
              </a:defRPr>
            </a:pPr>
            <a:r>
              <a:t>Q: What if the AI model is wrong?</a:t>
            </a:r>
          </a:p>
        </p:txBody>
      </p:sp>
      <p:sp>
        <p:nvSpPr>
          <p:cNvPr id="18" name="TextBox 17"/>
          <p:cNvSpPr txBox="1"/>
          <p:nvPr/>
        </p:nvSpPr>
        <p:spPr>
          <a:xfrm>
            <a:off x="6263640" y="2743200"/>
            <a:ext cx="5303520" cy="777240"/>
          </a:xfrm>
          <a:prstGeom prst="rect">
            <a:avLst/>
          </a:prstGeom>
          <a:noFill/>
        </p:spPr>
        <p:txBody>
          <a:bodyPr wrap="square">
            <a:spAutoFit/>
          </a:bodyPr>
          <a:lstStyle/>
          <a:p>
            <a:pPr algn="l">
              <a:defRPr sz="1000" b="0">
                <a:solidFill>
                  <a:srgbClr val="1E293B"/>
                </a:solidFill>
              </a:defRPr>
            </a:pPr>
            <a:r>
              <a:t>• Rule engine is the safety net: if ML confidence &lt; 60%, system uses deterministic rules. Feature importances exposed for admin audit.</a:t>
            </a:r>
          </a:p>
        </p:txBody>
      </p:sp>
      <p:sp>
        <p:nvSpPr>
          <p:cNvPr id="19" name="Rounded Rectangle 18"/>
          <p:cNvSpPr/>
          <p:nvPr/>
        </p:nvSpPr>
        <p:spPr>
          <a:xfrm>
            <a:off x="365760" y="37490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749040"/>
            <a:ext cx="73152"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822192"/>
            <a:ext cx="5303520" cy="320040"/>
          </a:xfrm>
          <a:prstGeom prst="rect">
            <a:avLst/>
          </a:prstGeom>
          <a:noFill/>
        </p:spPr>
        <p:txBody>
          <a:bodyPr wrap="square">
            <a:spAutoFit/>
          </a:bodyPr>
          <a:lstStyle/>
          <a:p>
            <a:pPr algn="l">
              <a:defRPr sz="1100" b="1">
                <a:solidFill>
                  <a:srgbClr val="2563EB"/>
                </a:solidFill>
              </a:defRPr>
            </a:pPr>
            <a:r>
              <a:t>Q: How would this scale to production?</a:t>
            </a:r>
          </a:p>
        </p:txBody>
      </p:sp>
      <p:sp>
        <p:nvSpPr>
          <p:cNvPr id="22" name="TextBox 21"/>
          <p:cNvSpPr txBox="1"/>
          <p:nvPr/>
        </p:nvSpPr>
        <p:spPr>
          <a:xfrm>
            <a:off x="548640" y="4114800"/>
            <a:ext cx="5303520" cy="777240"/>
          </a:xfrm>
          <a:prstGeom prst="rect">
            <a:avLst/>
          </a:prstGeom>
          <a:noFill/>
        </p:spPr>
        <p:txBody>
          <a:bodyPr wrap="square">
            <a:spAutoFit/>
          </a:bodyPr>
          <a:lstStyle/>
          <a:p>
            <a:pPr algn="l">
              <a:defRPr sz="1000" b="0">
                <a:solidFill>
                  <a:srgbClr val="1E293B"/>
                </a:solidFill>
              </a:defRPr>
            </a:pPr>
            <a:r>
              <a:t>• SQLite → PostgreSQL, add Redis, nginx reverse proxy, Kubernetes with HPA. SQLAlchemy ORM is dialect-agnostic — no code changes for DB swap.</a:t>
            </a:r>
          </a:p>
        </p:txBody>
      </p:sp>
      <p:sp>
        <p:nvSpPr>
          <p:cNvPr id="23" name="Rounded Rectangle 22"/>
          <p:cNvSpPr/>
          <p:nvPr/>
        </p:nvSpPr>
        <p:spPr>
          <a:xfrm>
            <a:off x="6080760" y="37490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3749040"/>
            <a:ext cx="73152" cy="12344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3822192"/>
            <a:ext cx="5303520" cy="320040"/>
          </a:xfrm>
          <a:prstGeom prst="rect">
            <a:avLst/>
          </a:prstGeom>
          <a:noFill/>
        </p:spPr>
        <p:txBody>
          <a:bodyPr wrap="square">
            <a:spAutoFit/>
          </a:bodyPr>
          <a:lstStyle/>
          <a:p>
            <a:pPr algn="l">
              <a:defRPr sz="1100" b="1">
                <a:solidFill>
                  <a:srgbClr val="16A34A"/>
                </a:solidFill>
              </a:defRPr>
            </a:pPr>
            <a:r>
              <a:t>Q: Is there an audit trail?</a:t>
            </a:r>
          </a:p>
        </p:txBody>
      </p:sp>
      <p:sp>
        <p:nvSpPr>
          <p:cNvPr id="26" name="TextBox 25"/>
          <p:cNvSpPr txBox="1"/>
          <p:nvPr/>
        </p:nvSpPr>
        <p:spPr>
          <a:xfrm>
            <a:off x="6263640" y="4114800"/>
            <a:ext cx="5303520" cy="777240"/>
          </a:xfrm>
          <a:prstGeom prst="rect">
            <a:avLst/>
          </a:prstGeom>
          <a:noFill/>
        </p:spPr>
        <p:txBody>
          <a:bodyPr wrap="square">
            <a:spAutoFit/>
          </a:bodyPr>
          <a:lstStyle/>
          <a:p>
            <a:pPr algn="l">
              <a:defRPr sz="1000" b="0">
                <a:solidFill>
                  <a:srgbClr val="1E293B"/>
                </a:solidFill>
              </a:defRPr>
            </a:pPr>
            <a:r>
              <a:t>• Yes. Every ingestion, risk assessment, and intervention creates an AuditLog entry (user, action, entity, timestamp, details). Admin + Compliance roles only.</a:t>
            </a:r>
          </a:p>
        </p:txBody>
      </p:sp>
      <p:sp>
        <p:nvSpPr>
          <p:cNvPr id="27" name="Rounded Rectangle 26"/>
          <p:cNvSpPr/>
          <p:nvPr/>
        </p:nvSpPr>
        <p:spPr>
          <a:xfrm>
            <a:off x="365760" y="51206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5120640"/>
            <a:ext cx="73152" cy="1234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93792"/>
            <a:ext cx="5303520" cy="320040"/>
          </a:xfrm>
          <a:prstGeom prst="rect">
            <a:avLst/>
          </a:prstGeom>
          <a:noFill/>
        </p:spPr>
        <p:txBody>
          <a:bodyPr wrap="square">
            <a:spAutoFit/>
          </a:bodyPr>
          <a:lstStyle/>
          <a:p>
            <a:pPr algn="l">
              <a:defRPr sz="1100" b="1">
                <a:solidFill>
                  <a:srgbClr val="7C3AED"/>
                </a:solidFill>
              </a:defRPr>
            </a:pPr>
            <a:r>
              <a:t>Q: How does risk re-assessment work?</a:t>
            </a:r>
          </a:p>
        </p:txBody>
      </p:sp>
      <p:sp>
        <p:nvSpPr>
          <p:cNvPr id="30" name="TextBox 29"/>
          <p:cNvSpPr txBox="1"/>
          <p:nvPr/>
        </p:nvSpPr>
        <p:spPr>
          <a:xfrm>
            <a:off x="548640" y="5486400"/>
            <a:ext cx="5303520" cy="777240"/>
          </a:xfrm>
          <a:prstGeom prst="rect">
            <a:avLst/>
          </a:prstGeom>
          <a:noFill/>
        </p:spPr>
        <p:txBody>
          <a:bodyPr wrap="square">
            <a:spAutoFit/>
          </a:bodyPr>
          <a:lstStyle/>
          <a:p>
            <a:pPr algn="l">
              <a:defRPr sz="1000" b="0">
                <a:solidFill>
                  <a:srgbClr val="1E293B"/>
                </a:solidFill>
              </a:defRPr>
            </a:pPr>
            <a:r>
              <a:t>• Every ingestion auto-triggers risk scoring: compute 6 features → rule engine (7 rules) → ML predict → blend result → store. No batch delays.</a:t>
            </a:r>
          </a:p>
        </p:txBody>
      </p:sp>
      <p:sp>
        <p:nvSpPr>
          <p:cNvPr id="31" name="Rounded Rectangle 30"/>
          <p:cNvSpPr/>
          <p:nvPr/>
        </p:nvSpPr>
        <p:spPr>
          <a:xfrm>
            <a:off x="6080760" y="5120640"/>
            <a:ext cx="557784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80760" y="5120640"/>
            <a:ext cx="73152" cy="1234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5193792"/>
            <a:ext cx="5303520" cy="320040"/>
          </a:xfrm>
          <a:prstGeom prst="rect">
            <a:avLst/>
          </a:prstGeom>
          <a:noFill/>
        </p:spPr>
        <p:txBody>
          <a:bodyPr wrap="square">
            <a:spAutoFit/>
          </a:bodyPr>
          <a:lstStyle/>
          <a:p>
            <a:pPr algn="l">
              <a:defRPr sz="1100" b="1">
                <a:solidFill>
                  <a:srgbClr val="DC2626"/>
                </a:solidFill>
              </a:defRPr>
            </a:pPr>
            <a:r>
              <a:t>Q: What are the known limitations?</a:t>
            </a:r>
          </a:p>
        </p:txBody>
      </p:sp>
      <p:sp>
        <p:nvSpPr>
          <p:cNvPr id="34" name="TextBox 33"/>
          <p:cNvSpPr txBox="1"/>
          <p:nvPr/>
        </p:nvSpPr>
        <p:spPr>
          <a:xfrm>
            <a:off x="6263640" y="5486400"/>
            <a:ext cx="5303520" cy="777240"/>
          </a:xfrm>
          <a:prstGeom prst="rect">
            <a:avLst/>
          </a:prstGeom>
          <a:noFill/>
        </p:spPr>
        <p:txBody>
          <a:bodyPr wrap="square">
            <a:spAutoFit/>
          </a:bodyPr>
          <a:lstStyle/>
          <a:p>
            <a:pPr algn="l">
              <a:defRPr sz="1000" b="0">
                <a:solidFill>
                  <a:srgbClr val="1E293B"/>
                </a:solidFill>
              </a:defRPr>
            </a:pPr>
            <a:r>
              <a:t>• SQLite single-writer, hardcoded JWT secret, no CSV batch import, no email alerts, no pagination. All documented with mitigations in Known Issues.</a:t>
            </a:r>
          </a:p>
        </p:txBody>
      </p:sp>
      <p:sp>
        <p:nvSpPr>
          <p:cNvPr id="35" name="TextBox 34"/>
          <p:cNvSpPr txBox="1"/>
          <p:nvPr/>
        </p:nvSpPr>
        <p:spPr>
          <a:xfrm>
            <a:off x="457200" y="6400800"/>
            <a:ext cx="11247120" cy="274320"/>
          </a:xfrm>
          <a:prstGeom prst="rect">
            <a:avLst/>
          </a:prstGeom>
          <a:noFill/>
        </p:spPr>
        <p:txBody>
          <a:bodyPr wrap="square">
            <a:spAutoFit/>
          </a:bodyPr>
          <a:lstStyle/>
          <a:p>
            <a:pPr algn="ctr">
              <a:defRPr sz="1400" b="1">
                <a:solidFill>
                  <a:srgbClr val="2563EB"/>
                </a:solidFill>
              </a:defRPr>
            </a:pPr>
            <a:r>
              <a:t>Thank You   |   API Docs: http://localhost:8000/docs   |   Frontend: 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